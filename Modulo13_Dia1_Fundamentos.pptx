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571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143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14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857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429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00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72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143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715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286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429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001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72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144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715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571500"/>
            <a:ext cx="9144000" cy="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0" y="1143000"/>
            <a:ext cx="9144000" cy="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0" y="1714500"/>
            <a:ext cx="9144000" cy="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0" y="2286000"/>
            <a:ext cx="9144000" cy="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0" y="2857500"/>
            <a:ext cx="9144000" cy="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0" y="3429000"/>
            <a:ext cx="9144000" cy="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0" y="4000500"/>
            <a:ext cx="9144000" cy="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0" y="4572000"/>
            <a:ext cx="9144000" cy="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0" y="5143500"/>
            <a:ext cx="9144000" cy="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39496" y="502920"/>
            <a:ext cx="3776472" cy="777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9496" y="1417320"/>
            <a:ext cx="6400800" cy="365760"/>
          </a:xfrm>
          <a:prstGeom prst="rect">
            <a:avLst/>
          </a:prstGeom>
          <a:noFill/>
        </p:spPr>
        <p:txBody>
          <a:bodyPr wrap="square" lIns="25400" rIns="25400" tIns="25400" bIns="25400" anchor="t">
            <a:spAutoFit/>
          </a:bodyPr>
          <a:lstStyle/>
          <a:p>
            <a:pPr algn="l"/>
            <a:r>
              <a:rPr sz="1400" b="0" i="0">
                <a:solidFill>
                  <a:srgbClr val="F0F46A"/>
                </a:solidFill>
                <a:latin typeface="Calibri"/>
              </a:rPr>
              <a:t>BOOTCAMP IA 4 · MÓDULO 13</a:t>
            </a:r>
          </a:p>
        </p:txBody>
      </p:sp>
      <p:sp>
        <p:nvSpPr>
          <p:cNvPr id="31" name="TextBox 30"/>
          <p:cNvSpPr txBox="1"/>
          <p:nvPr/>
        </p:nvSpPr>
        <p:spPr>
          <a:xfrm>
            <a:off x="539496" y="1874519"/>
            <a:ext cx="8229600" cy="1737360"/>
          </a:xfrm>
          <a:prstGeom prst="rect">
            <a:avLst/>
          </a:prstGeom>
          <a:noFill/>
        </p:spPr>
        <p:txBody>
          <a:bodyPr wrap="square" lIns="25400" rIns="25400" tIns="25400" bIns="25400" anchor="t">
            <a:spAutoFit/>
          </a:bodyPr>
          <a:lstStyle/>
          <a:p>
            <a:pPr algn="l">
              <a:lnSpc>
                <a:spcPct val="100000"/>
              </a:lnSpc>
            </a:pPr>
            <a:r>
              <a:rPr sz="4400" b="1" i="0">
                <a:solidFill>
                  <a:srgbClr val="FFFFFF"/>
                </a:solidFill>
                <a:latin typeface="Calibri"/>
              </a:rPr>
              <a:t>Fundamentos</a:t>
            </a:r>
          </a:p>
          <a:p>
            <a:pPr algn="l">
              <a:lnSpc>
                <a:spcPct val="100000"/>
              </a:lnSpc>
            </a:pPr>
            <a:r>
              <a:rPr sz="4400" b="1" i="0">
                <a:solidFill>
                  <a:srgbClr val="FFFFFF"/>
                </a:solidFill>
                <a:latin typeface="Calibri"/>
              </a:rPr>
              <a:t>de IA Generativa</a:t>
            </a:r>
          </a:p>
        </p:txBody>
      </p:sp>
      <p:sp>
        <p:nvSpPr>
          <p:cNvPr id="32" name="TextBox 31"/>
          <p:cNvSpPr txBox="1"/>
          <p:nvPr/>
        </p:nvSpPr>
        <p:spPr>
          <a:xfrm>
            <a:off x="539496" y="3703320"/>
            <a:ext cx="8229600" cy="457200"/>
          </a:xfrm>
          <a:prstGeom prst="rect">
            <a:avLst/>
          </a:prstGeom>
          <a:noFill/>
        </p:spPr>
        <p:txBody>
          <a:bodyPr wrap="square" lIns="25400" rIns="25400" tIns="25400" bIns="25400" anchor="t">
            <a:spAutoFit/>
          </a:bodyPr>
          <a:lstStyle/>
          <a:p>
            <a:pPr algn="l"/>
            <a:r>
              <a:rPr sz="1800" b="0" i="0">
                <a:solidFill>
                  <a:srgbClr val="FFFFFF"/>
                </a:solidFill>
                <a:latin typeface="Calibri"/>
              </a:rPr>
              <a:t>Día 1 · Modelos, tokens y prompt engineering</a:t>
            </a:r>
          </a:p>
        </p:txBody>
      </p:sp>
      <p:sp>
        <p:nvSpPr>
          <p:cNvPr id="33" name="TextBox 32"/>
          <p:cNvSpPr txBox="1"/>
          <p:nvPr/>
        </p:nvSpPr>
        <p:spPr>
          <a:xfrm>
            <a:off x="539496" y="4572000"/>
            <a:ext cx="3657600" cy="274320"/>
          </a:xfrm>
          <a:prstGeom prst="rect">
            <a:avLst/>
          </a:prstGeom>
          <a:noFill/>
        </p:spPr>
        <p:txBody>
          <a:bodyPr wrap="square" lIns="25400" rIns="25400" tIns="25400" bIns="25400" anchor="t">
            <a:spAutoFit/>
          </a:bodyPr>
          <a:lstStyle/>
          <a:p>
            <a:pPr algn="l"/>
            <a:r>
              <a:rPr sz="1200" b="0" i="0">
                <a:solidFill>
                  <a:srgbClr val="FFFFFF"/>
                </a:solidFill>
                <a:latin typeface="Calibri"/>
              </a:rPr>
              <a:t>Marc Mayol Orell · AI Tech Lead</a:t>
            </a:r>
          </a:p>
        </p:txBody>
      </p:sp>
      <p:sp>
        <p:nvSpPr>
          <p:cNvPr id="34" name="Rectangle 33"/>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36" name="Rectangle 35"/>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571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143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14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857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429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00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72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143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715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286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429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001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72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144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715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22" name="Rectangle 21"/>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24" name="TextBox 23"/>
          <p:cNvSpPr txBox="1"/>
          <p:nvPr/>
        </p:nvSpPr>
        <p:spPr>
          <a:xfrm>
            <a:off x="457200" y="502920"/>
            <a:ext cx="7315200" cy="777240"/>
          </a:xfrm>
          <a:prstGeom prst="rect">
            <a:avLst/>
          </a:prstGeom>
          <a:noFill/>
        </p:spPr>
        <p:txBody>
          <a:bodyPr wrap="square" lIns="25400" rIns="25400" tIns="25400" bIns="25400" anchor="t">
            <a:spAutoFit/>
          </a:bodyPr>
          <a:lstStyle/>
          <a:p>
            <a:pPr algn="l"/>
            <a:r>
              <a:rPr sz="3600" b="1" i="0">
                <a:solidFill>
                  <a:srgbClr val="FFFFFF"/>
                </a:solidFill>
                <a:latin typeface="Calibri"/>
              </a:rPr>
              <a:t>Hoy vamos a ver</a:t>
            </a:r>
          </a:p>
        </p:txBody>
      </p:sp>
      <p:sp>
        <p:nvSpPr>
          <p:cNvPr id="25" name="TextBox 24"/>
          <p:cNvSpPr txBox="1"/>
          <p:nvPr/>
        </p:nvSpPr>
        <p:spPr>
          <a:xfrm>
            <a:off x="548640" y="1554480"/>
            <a:ext cx="6858000" cy="457200"/>
          </a:xfrm>
          <a:prstGeom prst="rect">
            <a:avLst/>
          </a:prstGeom>
          <a:noFill/>
        </p:spPr>
        <p:txBody>
          <a:bodyPr wrap="square" lIns="25400" rIns="25400" tIns="25400" bIns="25400" anchor="t">
            <a:spAutoFit/>
          </a:bodyPr>
          <a:lstStyle/>
          <a:p>
            <a:pPr algn="l"/>
            <a:r>
              <a:rPr sz="2000" b="1" i="0">
                <a:solidFill>
                  <a:srgbClr val="FF743B"/>
                </a:solidFill>
                <a:latin typeface="Calibri"/>
              </a:rPr>
              <a:t>Por qué estamos aquí</a:t>
            </a:r>
          </a:p>
        </p:txBody>
      </p:sp>
      <p:sp>
        <p:nvSpPr>
          <p:cNvPr id="26" name="TextBox 25"/>
          <p:cNvSpPr txBox="1"/>
          <p:nvPr/>
        </p:nvSpPr>
        <p:spPr>
          <a:xfrm>
            <a:off x="7772400" y="1554480"/>
            <a:ext cx="914400" cy="457200"/>
          </a:xfrm>
          <a:prstGeom prst="rect">
            <a:avLst/>
          </a:prstGeom>
          <a:noFill/>
        </p:spPr>
        <p:txBody>
          <a:bodyPr wrap="square" lIns="25400" rIns="25400" tIns="25400" bIns="25400" anchor="t">
            <a:spAutoFit/>
          </a:bodyPr>
          <a:lstStyle/>
          <a:p>
            <a:pPr algn="r"/>
            <a:r>
              <a:rPr sz="2000" b="1" i="0">
                <a:solidFill>
                  <a:srgbClr val="FF743B"/>
                </a:solidFill>
                <a:latin typeface="Calibri"/>
              </a:rPr>
              <a:t>01</a:t>
            </a:r>
          </a:p>
        </p:txBody>
      </p:sp>
      <p:sp>
        <p:nvSpPr>
          <p:cNvPr id="27" name="TextBox 26"/>
          <p:cNvSpPr txBox="1"/>
          <p:nvPr/>
        </p:nvSpPr>
        <p:spPr>
          <a:xfrm>
            <a:off x="548640" y="2057400"/>
            <a:ext cx="6858000" cy="457200"/>
          </a:xfrm>
          <a:prstGeom prst="rect">
            <a:avLst/>
          </a:prstGeom>
          <a:noFill/>
        </p:spPr>
        <p:txBody>
          <a:bodyPr wrap="square" lIns="25400" rIns="25400" tIns="25400" bIns="25400" anchor="t">
            <a:spAutoFit/>
          </a:bodyPr>
          <a:lstStyle/>
          <a:p>
            <a:pPr algn="l"/>
            <a:r>
              <a:rPr sz="2000" b="1" i="0">
                <a:solidFill>
                  <a:srgbClr val="FF743B"/>
                </a:solidFill>
                <a:latin typeface="Calibri"/>
              </a:rPr>
              <a:t>Cómo funciona un LLM (sin matemáticas)</a:t>
            </a:r>
          </a:p>
        </p:txBody>
      </p:sp>
      <p:sp>
        <p:nvSpPr>
          <p:cNvPr id="28" name="TextBox 27"/>
          <p:cNvSpPr txBox="1"/>
          <p:nvPr/>
        </p:nvSpPr>
        <p:spPr>
          <a:xfrm>
            <a:off x="7772400" y="2057400"/>
            <a:ext cx="914400" cy="457200"/>
          </a:xfrm>
          <a:prstGeom prst="rect">
            <a:avLst/>
          </a:prstGeom>
          <a:noFill/>
        </p:spPr>
        <p:txBody>
          <a:bodyPr wrap="square" lIns="25400" rIns="25400" tIns="25400" bIns="25400" anchor="t">
            <a:spAutoFit/>
          </a:bodyPr>
          <a:lstStyle/>
          <a:p>
            <a:pPr algn="r"/>
            <a:r>
              <a:rPr sz="2000" b="1" i="0">
                <a:solidFill>
                  <a:srgbClr val="FF743B"/>
                </a:solidFill>
                <a:latin typeface="Calibri"/>
              </a:rPr>
              <a:t>02</a:t>
            </a:r>
          </a:p>
        </p:txBody>
      </p:sp>
      <p:sp>
        <p:nvSpPr>
          <p:cNvPr id="29" name="TextBox 28"/>
          <p:cNvSpPr txBox="1"/>
          <p:nvPr/>
        </p:nvSpPr>
        <p:spPr>
          <a:xfrm>
            <a:off x="548640" y="2560320"/>
            <a:ext cx="6858000" cy="457200"/>
          </a:xfrm>
          <a:prstGeom prst="rect">
            <a:avLst/>
          </a:prstGeom>
          <a:noFill/>
        </p:spPr>
        <p:txBody>
          <a:bodyPr wrap="square" lIns="25400" rIns="25400" tIns="25400" bIns="25400" anchor="t">
            <a:spAutoFit/>
          </a:bodyPr>
          <a:lstStyle/>
          <a:p>
            <a:pPr algn="l"/>
            <a:r>
              <a:rPr sz="2000" b="1" i="0">
                <a:solidFill>
                  <a:srgbClr val="FF743B"/>
                </a:solidFill>
                <a:latin typeface="Calibri"/>
              </a:rPr>
              <a:t>Tokens y ventana de contexto</a:t>
            </a:r>
          </a:p>
        </p:txBody>
      </p:sp>
      <p:sp>
        <p:nvSpPr>
          <p:cNvPr id="30" name="TextBox 29"/>
          <p:cNvSpPr txBox="1"/>
          <p:nvPr/>
        </p:nvSpPr>
        <p:spPr>
          <a:xfrm>
            <a:off x="7772400" y="2560320"/>
            <a:ext cx="914400" cy="457200"/>
          </a:xfrm>
          <a:prstGeom prst="rect">
            <a:avLst/>
          </a:prstGeom>
          <a:noFill/>
        </p:spPr>
        <p:txBody>
          <a:bodyPr wrap="square" lIns="25400" rIns="25400" tIns="25400" bIns="25400" anchor="t">
            <a:spAutoFit/>
          </a:bodyPr>
          <a:lstStyle/>
          <a:p>
            <a:pPr algn="r"/>
            <a:r>
              <a:rPr sz="2000" b="1" i="0">
                <a:solidFill>
                  <a:srgbClr val="FF743B"/>
                </a:solidFill>
                <a:latin typeface="Calibri"/>
              </a:rPr>
              <a:t>03</a:t>
            </a:r>
          </a:p>
        </p:txBody>
      </p:sp>
      <p:sp>
        <p:nvSpPr>
          <p:cNvPr id="31" name="TextBox 30"/>
          <p:cNvSpPr txBox="1"/>
          <p:nvPr/>
        </p:nvSpPr>
        <p:spPr>
          <a:xfrm>
            <a:off x="548640" y="3063240"/>
            <a:ext cx="6858000" cy="457200"/>
          </a:xfrm>
          <a:prstGeom prst="rect">
            <a:avLst/>
          </a:prstGeom>
          <a:noFill/>
        </p:spPr>
        <p:txBody>
          <a:bodyPr wrap="square" lIns="25400" rIns="25400" tIns="25400" bIns="25400" anchor="t">
            <a:spAutoFit/>
          </a:bodyPr>
          <a:lstStyle/>
          <a:p>
            <a:pPr algn="l"/>
            <a:r>
              <a:rPr sz="2000" b="1" i="0">
                <a:solidFill>
                  <a:srgbClr val="FF743B"/>
                </a:solidFill>
                <a:latin typeface="Calibri"/>
              </a:rPr>
              <a:t>Limitaciones y ecosistema 2026</a:t>
            </a:r>
          </a:p>
        </p:txBody>
      </p:sp>
      <p:sp>
        <p:nvSpPr>
          <p:cNvPr id="32" name="TextBox 31"/>
          <p:cNvSpPr txBox="1"/>
          <p:nvPr/>
        </p:nvSpPr>
        <p:spPr>
          <a:xfrm>
            <a:off x="7772400" y="3063240"/>
            <a:ext cx="914400" cy="457200"/>
          </a:xfrm>
          <a:prstGeom prst="rect">
            <a:avLst/>
          </a:prstGeom>
          <a:noFill/>
        </p:spPr>
        <p:txBody>
          <a:bodyPr wrap="square" lIns="25400" rIns="25400" tIns="25400" bIns="25400" anchor="t">
            <a:spAutoFit/>
          </a:bodyPr>
          <a:lstStyle/>
          <a:p>
            <a:pPr algn="r"/>
            <a:r>
              <a:rPr sz="2000" b="1" i="0">
                <a:solidFill>
                  <a:srgbClr val="FF743B"/>
                </a:solidFill>
                <a:latin typeface="Calibri"/>
              </a:rPr>
              <a:t>04</a:t>
            </a:r>
          </a:p>
        </p:txBody>
      </p:sp>
      <p:sp>
        <p:nvSpPr>
          <p:cNvPr id="33" name="TextBox 32"/>
          <p:cNvSpPr txBox="1"/>
          <p:nvPr/>
        </p:nvSpPr>
        <p:spPr>
          <a:xfrm>
            <a:off x="548640" y="3566160"/>
            <a:ext cx="6858000" cy="457200"/>
          </a:xfrm>
          <a:prstGeom prst="rect">
            <a:avLst/>
          </a:prstGeom>
          <a:noFill/>
        </p:spPr>
        <p:txBody>
          <a:bodyPr wrap="square" lIns="25400" rIns="25400" tIns="25400" bIns="25400" anchor="t">
            <a:spAutoFit/>
          </a:bodyPr>
          <a:lstStyle/>
          <a:p>
            <a:pPr algn="l"/>
            <a:r>
              <a:rPr sz="2000" b="1" i="0">
                <a:solidFill>
                  <a:srgbClr val="FF743B"/>
                </a:solidFill>
                <a:latin typeface="Calibri"/>
              </a:rPr>
              <a:t>Anatomía de un prompt: CO-STAR</a:t>
            </a:r>
          </a:p>
        </p:txBody>
      </p:sp>
      <p:sp>
        <p:nvSpPr>
          <p:cNvPr id="34" name="TextBox 33"/>
          <p:cNvSpPr txBox="1"/>
          <p:nvPr/>
        </p:nvSpPr>
        <p:spPr>
          <a:xfrm>
            <a:off x="7772400" y="3566160"/>
            <a:ext cx="914400" cy="457200"/>
          </a:xfrm>
          <a:prstGeom prst="rect">
            <a:avLst/>
          </a:prstGeom>
          <a:noFill/>
        </p:spPr>
        <p:txBody>
          <a:bodyPr wrap="square" lIns="25400" rIns="25400" tIns="25400" bIns="25400" anchor="t">
            <a:spAutoFit/>
          </a:bodyPr>
          <a:lstStyle/>
          <a:p>
            <a:pPr algn="r"/>
            <a:r>
              <a:rPr sz="2000" b="1" i="0">
                <a:solidFill>
                  <a:srgbClr val="FF743B"/>
                </a:solidFill>
                <a:latin typeface="Calibri"/>
              </a:rPr>
              <a:t>05</a:t>
            </a:r>
          </a:p>
        </p:txBody>
      </p:sp>
      <p:sp>
        <p:nvSpPr>
          <p:cNvPr id="35" name="TextBox 34"/>
          <p:cNvSpPr txBox="1"/>
          <p:nvPr/>
        </p:nvSpPr>
        <p:spPr>
          <a:xfrm>
            <a:off x="8503920" y="4846320"/>
            <a:ext cx="457200" cy="228600"/>
          </a:xfrm>
          <a:prstGeom prst="rect">
            <a:avLst/>
          </a:prstGeom>
          <a:noFill/>
        </p:spPr>
        <p:txBody>
          <a:bodyPr wrap="square" lIns="25400" rIns="25400" tIns="25400" bIns="25400" anchor="t">
            <a:spAutoFit/>
          </a:bodyPr>
          <a:lstStyle/>
          <a:p>
            <a:pPr algn="r"/>
            <a:r>
              <a:rPr sz="1000" b="0" i="0">
                <a:solidFill>
                  <a:srgbClr val="FFFFFF"/>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457200"/>
          </a:xfrm>
          <a:prstGeom prst="rect">
            <a:avLst/>
          </a:prstGeom>
          <a:noFill/>
        </p:spPr>
        <p:txBody>
          <a:bodyPr wrap="square" lIns="25400" rIns="25400" tIns="25400" bIns="25400" anchor="t">
            <a:spAutoFit/>
          </a:bodyPr>
          <a:lstStyle/>
          <a:p>
            <a:pPr algn="l"/>
            <a:r>
              <a:rPr sz="1400" b="0" i="0">
                <a:solidFill>
                  <a:srgbClr val="FF743B"/>
                </a:solidFill>
                <a:latin typeface="Calibri"/>
              </a:rPr>
              <a:t>ANTES DE EMPEZAR</a:t>
            </a:r>
          </a:p>
        </p:txBody>
      </p:sp>
      <p:sp>
        <p:nvSpPr>
          <p:cNvPr id="8" name="TextBox 7"/>
          <p:cNvSpPr txBox="1"/>
          <p:nvPr/>
        </p:nvSpPr>
        <p:spPr>
          <a:xfrm>
            <a:off x="457200" y="1463040"/>
            <a:ext cx="8229600" cy="2377440"/>
          </a:xfrm>
          <a:prstGeom prst="rect">
            <a:avLst/>
          </a:prstGeom>
          <a:noFill/>
        </p:spPr>
        <p:txBody>
          <a:bodyPr wrap="square" lIns="25400" rIns="25400" tIns="25400" bIns="25400" anchor="ctr">
            <a:spAutoFit/>
          </a:bodyPr>
          <a:lstStyle/>
          <a:p>
            <a:pPr algn="ctr"/>
            <a:r>
              <a:rPr sz="4000" b="1" i="0">
                <a:solidFill>
                  <a:srgbClr val="1D1D30"/>
                </a:solidFill>
                <a:latin typeface="Calibri"/>
              </a:rPr>
              <a:t>«Saber escribir prompts es la nueva alfabetización digital.»</a:t>
            </a:r>
          </a:p>
        </p:txBody>
      </p:sp>
      <p:sp>
        <p:nvSpPr>
          <p:cNvPr id="9" name="TextBox 8"/>
          <p:cNvSpPr txBox="1"/>
          <p:nvPr/>
        </p:nvSpPr>
        <p:spPr>
          <a:xfrm>
            <a:off x="457200" y="4023360"/>
            <a:ext cx="8229600" cy="365760"/>
          </a:xfrm>
          <a:prstGeom prst="rect">
            <a:avLst/>
          </a:prstGeom>
          <a:noFill/>
        </p:spPr>
        <p:txBody>
          <a:bodyPr wrap="square" lIns="25400" rIns="25400" tIns="25400" bIns="25400" anchor="t">
            <a:spAutoFit/>
          </a:bodyPr>
          <a:lstStyle/>
          <a:p>
            <a:pPr algn="ctr"/>
            <a:r>
              <a:rPr sz="1400" b="0" i="0">
                <a:solidFill>
                  <a:srgbClr val="808095"/>
                </a:solidFill>
                <a:latin typeface="Calibri"/>
              </a:rPr>
              <a:t>No hace falta ser ingeniero para dominarlo. Hace falta ser preciso.</a:t>
            </a:r>
          </a:p>
        </p:txBody>
      </p:sp>
      <p:sp>
        <p:nvSpPr>
          <p:cNvPr id="10" name="Rectangle 9"/>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Rectangle 6"/>
          <p:cNvSpPr/>
          <p:nvPr/>
        </p:nvSpPr>
        <p:spPr>
          <a:xfrm>
            <a:off x="411480" y="502920"/>
            <a:ext cx="2377440" cy="365760"/>
          </a:xfrm>
          <a:prstGeom prst="rect">
            <a:avLst/>
          </a:prstGeom>
          <a:solidFill>
            <a:srgbClr val="F0F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502920"/>
            <a:ext cx="2377440" cy="365760"/>
          </a:xfrm>
          <a:prstGeom prst="rect">
            <a:avLst/>
          </a:prstGeom>
          <a:noFill/>
        </p:spPr>
        <p:txBody>
          <a:bodyPr wrap="square" lIns="25400" rIns="25400" tIns="25400" bIns="25400" anchor="ctr">
            <a:spAutoFit/>
          </a:bodyPr>
          <a:lstStyle/>
          <a:p>
            <a:pPr algn="ctr"/>
            <a:r>
              <a:rPr sz="1300" b="1" i="0">
                <a:solidFill>
                  <a:srgbClr val="1D1D30"/>
                </a:solidFill>
                <a:latin typeface="Calibri"/>
              </a:rPr>
              <a:t>ICEBREAKER</a:t>
            </a:r>
          </a:p>
        </p:txBody>
      </p:sp>
      <p:sp>
        <p:nvSpPr>
          <p:cNvPr id="9" name="Rectangle 8"/>
          <p:cNvSpPr/>
          <p:nvPr/>
        </p:nvSpPr>
        <p:spPr>
          <a:xfrm>
            <a:off x="411480" y="1143000"/>
            <a:ext cx="1280160" cy="36576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143000"/>
            <a:ext cx="1280160" cy="365760"/>
          </a:xfrm>
          <a:prstGeom prst="rect">
            <a:avLst/>
          </a:prstGeom>
          <a:noFill/>
        </p:spPr>
        <p:txBody>
          <a:bodyPr wrap="square" lIns="25400" rIns="25400" tIns="25400" bIns="25400" anchor="ctr">
            <a:spAutoFit/>
          </a:bodyPr>
          <a:lstStyle/>
          <a:p>
            <a:pPr algn="ctr"/>
            <a:r>
              <a:rPr sz="1400" b="1" i="0">
                <a:solidFill>
                  <a:srgbClr val="FFFFFF"/>
                </a:solidFill>
                <a:latin typeface="Calibri"/>
              </a:rPr>
              <a:t>Ejercicio 0</a:t>
            </a:r>
          </a:p>
        </p:txBody>
      </p:sp>
      <p:sp>
        <p:nvSpPr>
          <p:cNvPr id="11" name="Rectangle 10"/>
          <p:cNvSpPr/>
          <p:nvPr/>
        </p:nvSpPr>
        <p:spPr>
          <a:xfrm>
            <a:off x="1783080" y="1143000"/>
            <a:ext cx="1280160" cy="365760"/>
          </a:xfrm>
          <a:prstGeom prst="rect">
            <a:avLst/>
          </a:prstGeom>
          <a:solidFill>
            <a:srgbClr val="F0F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83080" y="1143000"/>
            <a:ext cx="1280160" cy="365760"/>
          </a:xfrm>
          <a:prstGeom prst="rect">
            <a:avLst/>
          </a:prstGeom>
          <a:noFill/>
        </p:spPr>
        <p:txBody>
          <a:bodyPr wrap="square" lIns="25400" rIns="25400" tIns="25400" bIns="25400" anchor="ctr">
            <a:spAutoFit/>
          </a:bodyPr>
          <a:lstStyle/>
          <a:p>
            <a:pPr algn="ctr"/>
            <a:r>
              <a:rPr sz="1400" b="1" i="0">
                <a:solidFill>
                  <a:srgbClr val="1D1D30"/>
                </a:solidFill>
                <a:latin typeface="Calibri"/>
              </a:rPr>
              <a:t>5 min</a:t>
            </a:r>
          </a:p>
        </p:txBody>
      </p:sp>
      <p:sp>
        <p:nvSpPr>
          <p:cNvPr id="13" name="TextBox 12"/>
          <p:cNvSpPr txBox="1"/>
          <p:nvPr/>
        </p:nvSpPr>
        <p:spPr>
          <a:xfrm>
            <a:off x="411480" y="1828800"/>
            <a:ext cx="8229600" cy="2743200"/>
          </a:xfrm>
          <a:prstGeom prst="rect">
            <a:avLst/>
          </a:prstGeom>
          <a:noFill/>
        </p:spPr>
        <p:txBody>
          <a:bodyPr wrap="square" lIns="25400" rIns="25400" tIns="25400" bIns="25400" anchor="t">
            <a:spAutoFit/>
          </a:bodyPr>
          <a:lstStyle/>
          <a:p>
            <a:pPr algn="l">
              <a:lnSpc>
                <a:spcPct val="140000"/>
              </a:lnSpc>
            </a:pPr>
            <a:r>
              <a:rPr sz="1800" b="1" i="0">
                <a:solidFill>
                  <a:srgbClr val="1D1D30"/>
                </a:solidFill>
                <a:latin typeface="Calibri"/>
              </a:rPr>
              <a:t>Misión: </a:t>
            </a:r>
            <a:r>
              <a:rPr sz="1800" b="0" i="0">
                <a:solidFill>
                  <a:srgbClr val="1D1D30"/>
                </a:solidFill>
                <a:latin typeface="Calibri"/>
              </a:rPr>
              <a:t>En tu IA de confianza (ChatGPT, Claude, Gemini, Copilot), escribe un haiku sobre por qué te apuntaste a este bootcamp. Lo compartimos en voz alta 3 o 4.</a:t>
            </a:r>
          </a:p>
          <a:p>
            <a:pPr algn="l">
              <a:lnSpc>
                <a:spcPct val="140000"/>
              </a:lnSpc>
            </a:pPr>
            <a:r>
              <a:rPr sz="1800" b="1" i="0">
                <a:solidFill>
                  <a:srgbClr val="1D1D30"/>
                </a:solidFill>
                <a:latin typeface="Calibri"/>
              </a:rPr>
              <a:t>Herramienta: </a:t>
            </a:r>
            <a:r>
              <a:rPr sz="1800" b="0" i="0">
                <a:solidFill>
                  <a:srgbClr val="1D1D30"/>
                </a:solidFill>
                <a:latin typeface="Calibri"/>
              </a:rPr>
              <a:t>La IA que prefieras</a:t>
            </a:r>
          </a:p>
          <a:p>
            <a:pPr algn="l">
              <a:lnSpc>
                <a:spcPct val="140000"/>
              </a:lnSpc>
            </a:pPr>
            <a:r>
              <a:rPr sz="1800" b="1" i="0">
                <a:solidFill>
                  <a:srgbClr val="1D1D30"/>
                </a:solidFill>
                <a:latin typeface="Calibri"/>
              </a:rPr>
              <a:t>Objetivo: </a:t>
            </a:r>
            <a:r>
              <a:rPr sz="1800" b="0" i="0">
                <a:solidFill>
                  <a:srgbClr val="1D1D30"/>
                </a:solidFill>
                <a:latin typeface="Calibri"/>
              </a:rPr>
              <a:t>Romper el hielo y ver qué herramientas usáis ya y qué resultados sacáis con prompts simples.</a:t>
            </a:r>
          </a:p>
        </p:txBody>
      </p:sp>
      <p:sp>
        <p:nvSpPr>
          <p:cNvPr id="14" name="Rectangle 13"/>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571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143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14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857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429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00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72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143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715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286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429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001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72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144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715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39496" y="502920"/>
            <a:ext cx="3776472" cy="777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9496" y="1417320"/>
            <a:ext cx="6400800" cy="365760"/>
          </a:xfrm>
          <a:prstGeom prst="rect">
            <a:avLst/>
          </a:prstGeom>
          <a:noFill/>
        </p:spPr>
        <p:txBody>
          <a:bodyPr wrap="square" lIns="25400" rIns="25400" tIns="25400" bIns="25400" anchor="t">
            <a:spAutoFit/>
          </a:bodyPr>
          <a:lstStyle/>
          <a:p>
            <a:pPr algn="l"/>
            <a:r>
              <a:rPr sz="1400" b="0" i="0">
                <a:solidFill>
                  <a:srgbClr val="F0F46A"/>
                </a:solidFill>
                <a:latin typeface="Calibri"/>
              </a:rPr>
              <a:t>BLOQUE 1</a:t>
            </a:r>
          </a:p>
        </p:txBody>
      </p:sp>
      <p:sp>
        <p:nvSpPr>
          <p:cNvPr id="22" name="TextBox 21"/>
          <p:cNvSpPr txBox="1"/>
          <p:nvPr/>
        </p:nvSpPr>
        <p:spPr>
          <a:xfrm>
            <a:off x="539496" y="1920240"/>
            <a:ext cx="8229600" cy="2377440"/>
          </a:xfrm>
          <a:prstGeom prst="rect">
            <a:avLst/>
          </a:prstGeom>
          <a:noFill/>
        </p:spPr>
        <p:txBody>
          <a:bodyPr wrap="square" lIns="25400" rIns="25400" tIns="25400" bIns="25400" anchor="t">
            <a:spAutoFit/>
          </a:bodyPr>
          <a:lstStyle/>
          <a:p>
            <a:pPr algn="l">
              <a:lnSpc>
                <a:spcPct val="105000"/>
              </a:lnSpc>
            </a:pPr>
            <a:r>
              <a:rPr sz="4200" b="1" i="0">
                <a:solidFill>
                  <a:srgbClr val="FFFFFF"/>
                </a:solidFill>
                <a:latin typeface="Calibri"/>
              </a:rPr>
              <a:t>¿Qué es</a:t>
            </a:r>
          </a:p>
          <a:p>
            <a:pPr algn="l">
              <a:lnSpc>
                <a:spcPct val="105000"/>
              </a:lnSpc>
            </a:pPr>
            <a:r>
              <a:rPr sz="4200" b="1" i="0">
                <a:solidFill>
                  <a:srgbClr val="FFFFFF"/>
                </a:solidFill>
                <a:latin typeface="Calibri"/>
              </a:rPr>
              <a:t>la IA generativa?</a:t>
            </a:r>
          </a:p>
        </p:txBody>
      </p:sp>
      <p:sp>
        <p:nvSpPr>
          <p:cNvPr id="23" name="Rectangle 2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25" name="Rectangle 2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27" name="TextBox 26"/>
          <p:cNvSpPr txBox="1"/>
          <p:nvPr/>
        </p:nvSpPr>
        <p:spPr>
          <a:xfrm>
            <a:off x="8503920" y="4846320"/>
            <a:ext cx="457200" cy="228600"/>
          </a:xfrm>
          <a:prstGeom prst="rect">
            <a:avLst/>
          </a:prstGeom>
          <a:noFill/>
        </p:spPr>
        <p:txBody>
          <a:bodyPr wrap="square" lIns="25400" rIns="25400" tIns="25400" bIns="25400" anchor="t">
            <a:spAutoFit/>
          </a:bodyPr>
          <a:lstStyle/>
          <a:p>
            <a:pPr algn="r"/>
            <a:r>
              <a:rPr sz="1000" b="0" i="0">
                <a:solidFill>
                  <a:srgbClr val="FFFFFF"/>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200" b="1" i="0">
                <a:solidFill>
                  <a:srgbClr val="1D1D30"/>
                </a:solidFill>
                <a:latin typeface="Calibri"/>
              </a:rPr>
              <a:t>¿Qué es la IA generativa?</a:t>
            </a:r>
          </a:p>
        </p:txBody>
      </p:sp>
      <p:sp>
        <p:nvSpPr>
          <p:cNvPr id="8" name="TextBox 7"/>
          <p:cNvSpPr txBox="1"/>
          <p:nvPr/>
        </p:nvSpPr>
        <p:spPr>
          <a:xfrm>
            <a:off x="411480" y="1463040"/>
            <a:ext cx="8229600" cy="3200400"/>
          </a:xfrm>
          <a:prstGeom prst="rect">
            <a:avLst/>
          </a:prstGeom>
          <a:noFill/>
        </p:spPr>
        <p:txBody>
          <a:bodyPr wrap="square" lIns="25400" rIns="25400" tIns="25400" bIns="25400" anchor="t">
            <a:spAutoFit/>
          </a:bodyPr>
          <a:lstStyle/>
          <a:p>
            <a:pPr algn="l">
              <a:lnSpc>
                <a:spcPct val="125000"/>
              </a:lnSpc>
            </a:pPr>
            <a:r>
              <a:rPr sz="1800" b="0" i="0">
                <a:solidFill>
                  <a:srgbClr val="1D1D30"/>
                </a:solidFill>
                <a:latin typeface="Calibri"/>
              </a:rPr>
              <a:t>Sistemas que generan contenido nuevo (texto, imagen, audio, código) imitando patrones aprendidos de grandes volúmenes de datos.</a:t>
            </a:r>
          </a:p>
          <a:p>
            <a:pPr algn="l">
              <a:lnSpc>
                <a:spcPct val="125000"/>
              </a:lnSpc>
            </a:pPr>
            <a:r>
              <a:rPr sz="1800" b="0" i="0">
                <a:solidFill>
                  <a:srgbClr val="1D1D30"/>
                </a:solidFill>
                <a:latin typeface="Calibri"/>
              </a:rPr>
              <a:t/>
            </a:r>
          </a:p>
          <a:p>
            <a:pPr algn="l">
              <a:lnSpc>
                <a:spcPct val="125000"/>
              </a:lnSpc>
            </a:pPr>
            <a:r>
              <a:rPr sz="1800" b="0" i="0">
                <a:solidFill>
                  <a:srgbClr val="1D1D30"/>
                </a:solidFill>
                <a:latin typeface="Calibri"/>
              </a:rPr>
              <a:t>No es magia: predicen el siguiente token más probable dado el contexto.</a:t>
            </a:r>
          </a:p>
          <a:p>
            <a:pPr algn="l">
              <a:lnSpc>
                <a:spcPct val="125000"/>
              </a:lnSpc>
            </a:pPr>
            <a:r>
              <a:rPr sz="1800" b="0" i="0">
                <a:solidFill>
                  <a:srgbClr val="1D1D30"/>
                </a:solidFill>
                <a:latin typeface="Calibri"/>
              </a:rPr>
              <a:t/>
            </a:r>
          </a:p>
          <a:p>
            <a:pPr algn="l">
              <a:lnSpc>
                <a:spcPct val="125000"/>
              </a:lnSpc>
            </a:pPr>
            <a:r>
              <a:rPr sz="1800" b="0" i="0">
                <a:solidFill>
                  <a:srgbClr val="1D1D30"/>
                </a:solidFill>
                <a:latin typeface="Calibri"/>
              </a:rPr>
              <a:t>Esa frase explica casi todo lo que veremos hoy: por qué alucinan, por qué los prompts importan tanto y por qué cuesta controlarlas.</a:t>
            </a:r>
          </a:p>
        </p:txBody>
      </p:sp>
      <p:sp>
        <p:nvSpPr>
          <p:cNvPr id="9" name="Rectangle 8"/>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000" b="1" i="0">
                <a:solidFill>
                  <a:srgbClr val="1D1D30"/>
                </a:solidFill>
                <a:latin typeface="Calibri"/>
              </a:rPr>
              <a:t>¿Qué pueden generar?</a:t>
            </a:r>
          </a:p>
        </p:txBody>
      </p:sp>
      <p:sp>
        <p:nvSpPr>
          <p:cNvPr id="8" name="Rectangle 7"/>
          <p:cNvSpPr/>
          <p:nvPr/>
        </p:nvSpPr>
        <p:spPr>
          <a:xfrm>
            <a:off x="498348" y="1783080"/>
            <a:ext cx="2606040" cy="246888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8348" y="1783080"/>
            <a:ext cx="2606040" cy="3200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8348" y="1783080"/>
            <a:ext cx="2606040" cy="320040"/>
          </a:xfrm>
          <a:prstGeom prst="rect">
            <a:avLst/>
          </a:prstGeom>
          <a:noFill/>
        </p:spPr>
        <p:txBody>
          <a:bodyPr wrap="square" lIns="25400" rIns="25400" tIns="25400" bIns="25400" anchor="ctr">
            <a:spAutoFit/>
          </a:bodyPr>
          <a:lstStyle/>
          <a:p>
            <a:pPr algn="ctr"/>
            <a:r>
              <a:rPr sz="1400" b="1" i="0">
                <a:solidFill>
                  <a:srgbClr val="FFFFFF"/>
                </a:solidFill>
                <a:latin typeface="Calibri"/>
              </a:rPr>
              <a:t>Texto</a:t>
            </a:r>
          </a:p>
        </p:txBody>
      </p:sp>
      <p:sp>
        <p:nvSpPr>
          <p:cNvPr id="11" name="TextBox 10"/>
          <p:cNvSpPr txBox="1"/>
          <p:nvPr/>
        </p:nvSpPr>
        <p:spPr>
          <a:xfrm>
            <a:off x="662940" y="2194560"/>
            <a:ext cx="2276856" cy="1965960"/>
          </a:xfrm>
          <a:prstGeom prst="rect">
            <a:avLst/>
          </a:prstGeom>
          <a:noFill/>
        </p:spPr>
        <p:txBody>
          <a:bodyPr wrap="square" lIns="25400" rIns="25400" tIns="25400" bIns="25400" anchor="t">
            <a:spAutoFit/>
          </a:bodyPr>
          <a:lstStyle/>
          <a:p>
            <a:pPr algn="l"/>
            <a:r>
              <a:rPr sz="1200" b="0" i="0">
                <a:solidFill>
                  <a:srgbClr val="FFFFFF"/>
                </a:solidFill>
                <a:latin typeface="Calibri"/>
              </a:rPr>
              <a:t>Mails, resúmenes, traducciones, código, análisis, ideas. Lo que más usaréis hoy.</a:t>
            </a:r>
          </a:p>
        </p:txBody>
      </p:sp>
      <p:sp>
        <p:nvSpPr>
          <p:cNvPr id="12" name="Rectangle 11"/>
          <p:cNvSpPr/>
          <p:nvPr/>
        </p:nvSpPr>
        <p:spPr>
          <a:xfrm>
            <a:off x="3268980" y="1783080"/>
            <a:ext cx="2606040" cy="246888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68980" y="1783080"/>
            <a:ext cx="2606040" cy="3200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68980" y="1783080"/>
            <a:ext cx="2606040" cy="320040"/>
          </a:xfrm>
          <a:prstGeom prst="rect">
            <a:avLst/>
          </a:prstGeom>
          <a:noFill/>
        </p:spPr>
        <p:txBody>
          <a:bodyPr wrap="square" lIns="25400" rIns="25400" tIns="25400" bIns="25400" anchor="ctr">
            <a:spAutoFit/>
          </a:bodyPr>
          <a:lstStyle/>
          <a:p>
            <a:pPr algn="ctr"/>
            <a:r>
              <a:rPr sz="1400" b="1" i="0">
                <a:solidFill>
                  <a:srgbClr val="FFFFFF"/>
                </a:solidFill>
                <a:latin typeface="Calibri"/>
              </a:rPr>
              <a:t>Imagen</a:t>
            </a:r>
          </a:p>
        </p:txBody>
      </p:sp>
      <p:sp>
        <p:nvSpPr>
          <p:cNvPr id="15" name="TextBox 14"/>
          <p:cNvSpPr txBox="1"/>
          <p:nvPr/>
        </p:nvSpPr>
        <p:spPr>
          <a:xfrm>
            <a:off x="3433572" y="2194560"/>
            <a:ext cx="2276856" cy="1965960"/>
          </a:xfrm>
          <a:prstGeom prst="rect">
            <a:avLst/>
          </a:prstGeom>
          <a:noFill/>
        </p:spPr>
        <p:txBody>
          <a:bodyPr wrap="square" lIns="25400" rIns="25400" tIns="25400" bIns="25400" anchor="t">
            <a:spAutoFit/>
          </a:bodyPr>
          <a:lstStyle/>
          <a:p>
            <a:pPr algn="l"/>
            <a:r>
              <a:rPr sz="1200" b="0" i="0">
                <a:solidFill>
                  <a:srgbClr val="FFFFFF"/>
                </a:solidFill>
                <a:latin typeface="Calibri"/>
              </a:rPr>
              <a:t>Stable Diffusion, DALL-E, Midjourney, Flux. Otro día. Hoy: solo texto.</a:t>
            </a:r>
          </a:p>
        </p:txBody>
      </p:sp>
      <p:sp>
        <p:nvSpPr>
          <p:cNvPr id="16" name="Rectangle 15"/>
          <p:cNvSpPr/>
          <p:nvPr/>
        </p:nvSpPr>
        <p:spPr>
          <a:xfrm>
            <a:off x="6039612" y="1783080"/>
            <a:ext cx="2606040" cy="246888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39612" y="1783080"/>
            <a:ext cx="2606040" cy="3200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39612" y="1783080"/>
            <a:ext cx="2606040" cy="320040"/>
          </a:xfrm>
          <a:prstGeom prst="rect">
            <a:avLst/>
          </a:prstGeom>
          <a:noFill/>
        </p:spPr>
        <p:txBody>
          <a:bodyPr wrap="square" lIns="25400" rIns="25400" tIns="25400" bIns="25400" anchor="ctr">
            <a:spAutoFit/>
          </a:bodyPr>
          <a:lstStyle/>
          <a:p>
            <a:pPr algn="ctr"/>
            <a:r>
              <a:rPr sz="1400" b="1" i="0">
                <a:solidFill>
                  <a:srgbClr val="FFFFFF"/>
                </a:solidFill>
                <a:latin typeface="Calibri"/>
              </a:rPr>
              <a:t>Audio / Vídeo</a:t>
            </a:r>
          </a:p>
        </p:txBody>
      </p:sp>
      <p:sp>
        <p:nvSpPr>
          <p:cNvPr id="19" name="TextBox 18"/>
          <p:cNvSpPr txBox="1"/>
          <p:nvPr/>
        </p:nvSpPr>
        <p:spPr>
          <a:xfrm>
            <a:off x="6204204" y="2194560"/>
            <a:ext cx="2276856" cy="1965960"/>
          </a:xfrm>
          <a:prstGeom prst="rect">
            <a:avLst/>
          </a:prstGeom>
          <a:noFill/>
        </p:spPr>
        <p:txBody>
          <a:bodyPr wrap="square" lIns="25400" rIns="25400" tIns="25400" bIns="25400" anchor="t">
            <a:spAutoFit/>
          </a:bodyPr>
          <a:lstStyle/>
          <a:p>
            <a:pPr algn="l"/>
            <a:r>
              <a:rPr sz="1200" b="0" i="0">
                <a:solidFill>
                  <a:srgbClr val="FFFFFF"/>
                </a:solidFill>
                <a:latin typeface="Calibri"/>
              </a:rPr>
              <a:t>Suno, ElevenLabs, Runway, Sora. Madurando rápido en 2026.</a:t>
            </a:r>
          </a:p>
        </p:txBody>
      </p:sp>
      <p:sp>
        <p:nvSpPr>
          <p:cNvPr id="20" name="Rectangle 19"/>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200" b="1" i="0">
                <a:solidFill>
                  <a:srgbClr val="1D1D30"/>
                </a:solidFill>
                <a:latin typeface="Calibri"/>
              </a:rPr>
              <a:t>Lo que ya sabes (y casi nadie reconoce)</a:t>
            </a:r>
          </a:p>
        </p:txBody>
      </p:sp>
      <p:sp>
        <p:nvSpPr>
          <p:cNvPr id="8" name="TextBox 7"/>
          <p:cNvSpPr txBox="1"/>
          <p:nvPr/>
        </p:nvSpPr>
        <p:spPr>
          <a:xfrm>
            <a:off x="411480" y="1417320"/>
            <a:ext cx="8229600" cy="3383280"/>
          </a:xfrm>
          <a:prstGeom prst="rect">
            <a:avLst/>
          </a:prstGeom>
          <a:noFill/>
        </p:spPr>
        <p:txBody>
          <a:bodyPr wrap="square" lIns="25400" rIns="25400" tIns="25400" bIns="25400" anchor="t">
            <a:spAutoFit/>
          </a:bodyPr>
          <a:lstStyle/>
          <a:p>
            <a:pPr algn="l">
              <a:lnSpc>
                <a:spcPct val="135000"/>
              </a:lnSpc>
            </a:pPr>
            <a:r>
              <a:rPr sz="1700" b="1" i="0">
                <a:solidFill>
                  <a:srgbClr val="FF743B"/>
                </a:solidFill>
                <a:latin typeface="Calibri"/>
              </a:rPr>
              <a:t>● </a:t>
            </a:r>
            <a:r>
              <a:rPr sz="1700" b="1" i="0">
                <a:solidFill>
                  <a:srgbClr val="1D1D30"/>
                </a:solidFill>
                <a:latin typeface="Calibri"/>
              </a:rPr>
              <a:t>ChatGPT no piensa</a:t>
            </a:r>
            <a:r>
              <a:rPr sz="1700" b="0" i="0">
                <a:solidFill>
                  <a:srgbClr val="1D1D30"/>
                </a:solidFill>
                <a:latin typeface="Calibri"/>
              </a:rPr>
              <a:t>: predice tokens uno a uno</a:t>
            </a:r>
          </a:p>
          <a:p>
            <a:pPr algn="l">
              <a:lnSpc>
                <a:spcPct val="135000"/>
              </a:lnSpc>
            </a:pPr>
            <a:r>
              <a:rPr sz="1700" b="1" i="0">
                <a:solidFill>
                  <a:srgbClr val="FF743B"/>
                </a:solidFill>
                <a:latin typeface="Calibri"/>
              </a:rPr>
              <a:t>● </a:t>
            </a:r>
            <a:r>
              <a:rPr sz="1700" b="1" i="0">
                <a:solidFill>
                  <a:srgbClr val="1D1D30"/>
                </a:solidFill>
                <a:latin typeface="Calibri"/>
              </a:rPr>
              <a:t>No tiene memoria entre chats</a:t>
            </a:r>
            <a:r>
              <a:rPr sz="1700" b="0" i="0">
                <a:solidFill>
                  <a:srgbClr val="1D1D30"/>
                </a:solidFill>
                <a:latin typeface="Calibri"/>
              </a:rPr>
              <a:t>: solo lee el contexto que le pasas</a:t>
            </a:r>
          </a:p>
          <a:p>
            <a:pPr algn="l">
              <a:lnSpc>
                <a:spcPct val="135000"/>
              </a:lnSpc>
            </a:pPr>
            <a:r>
              <a:rPr sz="1700" b="1" i="0">
                <a:solidFill>
                  <a:srgbClr val="FF743B"/>
                </a:solidFill>
                <a:latin typeface="Calibri"/>
              </a:rPr>
              <a:t>● </a:t>
            </a:r>
            <a:r>
              <a:rPr sz="1700" b="1" i="0">
                <a:solidFill>
                  <a:srgbClr val="1D1D30"/>
                </a:solidFill>
                <a:latin typeface="Calibri"/>
              </a:rPr>
              <a:t>No busca en internet por defecto</a:t>
            </a:r>
            <a:r>
              <a:rPr sz="1700" b="0" i="0">
                <a:solidFill>
                  <a:srgbClr val="1D1D30"/>
                </a:solidFill>
                <a:latin typeface="Calibri"/>
              </a:rPr>
              <a:t>: salvo que le actives la herramienta</a:t>
            </a:r>
          </a:p>
          <a:p>
            <a:pPr algn="l">
              <a:lnSpc>
                <a:spcPct val="135000"/>
              </a:lnSpc>
            </a:pPr>
            <a:r>
              <a:rPr sz="1700" b="1" i="0">
                <a:solidFill>
                  <a:srgbClr val="FF743B"/>
                </a:solidFill>
                <a:latin typeface="Calibri"/>
              </a:rPr>
              <a:t>● </a:t>
            </a:r>
            <a:r>
              <a:rPr sz="1700" b="1" i="0">
                <a:solidFill>
                  <a:srgbClr val="1D1D30"/>
                </a:solidFill>
                <a:latin typeface="Calibri"/>
              </a:rPr>
              <a:t>No sabe lo que es verdad</a:t>
            </a:r>
            <a:r>
              <a:rPr sz="1700" b="0" i="0">
                <a:solidFill>
                  <a:srgbClr val="1D1D30"/>
                </a:solidFill>
                <a:latin typeface="Calibri"/>
              </a:rPr>
              <a:t>: sabe lo que es probable según su entrenamiento</a:t>
            </a:r>
          </a:p>
          <a:p>
            <a:pPr algn="l">
              <a:lnSpc>
                <a:spcPct val="135000"/>
              </a:lnSpc>
            </a:pPr>
            <a:r>
              <a:rPr sz="1700" b="1" i="0">
                <a:solidFill>
                  <a:srgbClr val="FF743B"/>
                </a:solidFill>
                <a:latin typeface="Calibri"/>
              </a:rPr>
              <a:t>● </a:t>
            </a:r>
            <a:r>
              <a:rPr sz="1700" b="1" i="0">
                <a:solidFill>
                  <a:srgbClr val="1D1D30"/>
                </a:solidFill>
                <a:latin typeface="Calibri"/>
              </a:rPr>
              <a:t>No te entiende</a:t>
            </a:r>
            <a:r>
              <a:rPr sz="1700" b="0" i="0">
                <a:solidFill>
                  <a:srgbClr val="1D1D30"/>
                </a:solidFill>
                <a:latin typeface="Calibri"/>
              </a:rPr>
              <a:t>: convierte tu texto en números y opera con números</a:t>
            </a:r>
          </a:p>
        </p:txBody>
      </p:sp>
      <p:sp>
        <p:nvSpPr>
          <p:cNvPr id="9" name="Rectangle 8"/>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000" b="1" i="0">
                <a:solidFill>
                  <a:srgbClr val="1D1D30"/>
                </a:solidFill>
                <a:latin typeface="Calibri"/>
              </a:rPr>
              <a:t>Pregunta abierta · 5 min</a:t>
            </a:r>
          </a:p>
        </p:txBody>
      </p:sp>
      <p:sp>
        <p:nvSpPr>
          <p:cNvPr id="8" name="Rectangle 7"/>
          <p:cNvSpPr/>
          <p:nvPr/>
        </p:nvSpPr>
        <p:spPr>
          <a:xfrm>
            <a:off x="640080" y="1554480"/>
            <a:ext cx="7863840" cy="14630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54480"/>
            <a:ext cx="7498079" cy="1463040"/>
          </a:xfrm>
          <a:prstGeom prst="rect">
            <a:avLst/>
          </a:prstGeom>
          <a:noFill/>
        </p:spPr>
        <p:txBody>
          <a:bodyPr wrap="square" lIns="25400" rIns="25400" tIns="25400" bIns="25400" anchor="ctr">
            <a:spAutoFit/>
          </a:bodyPr>
          <a:lstStyle/>
          <a:p>
            <a:pPr algn="ctr">
              <a:lnSpc>
                <a:spcPct val="120000"/>
              </a:lnSpc>
            </a:pPr>
            <a:r>
              <a:rPr sz="2400" b="1" i="0">
                <a:solidFill>
                  <a:srgbClr val="FFFFFF"/>
                </a:solidFill>
                <a:latin typeface="Calibri"/>
              </a:rPr>
              <a:t>¿Habéis usado IA esta semana?</a:t>
            </a:r>
          </a:p>
          <a:p>
            <a:pPr algn="ctr">
              <a:lnSpc>
                <a:spcPct val="120000"/>
              </a:lnSpc>
            </a:pPr>
            <a:r>
              <a:rPr sz="2400" b="1" i="0">
                <a:solidFill>
                  <a:srgbClr val="FFFFFF"/>
                </a:solidFill>
                <a:latin typeface="Calibri"/>
              </a:rPr>
              <a:t>¿Para qué? ¿Cómo de bien o mal salió?</a:t>
            </a:r>
          </a:p>
        </p:txBody>
      </p:sp>
      <p:sp>
        <p:nvSpPr>
          <p:cNvPr id="10" name="TextBox 9"/>
          <p:cNvSpPr txBox="1"/>
          <p:nvPr/>
        </p:nvSpPr>
        <p:spPr>
          <a:xfrm>
            <a:off x="640080" y="3383280"/>
            <a:ext cx="7863840" cy="1371600"/>
          </a:xfrm>
          <a:prstGeom prst="rect">
            <a:avLst/>
          </a:prstGeom>
          <a:noFill/>
        </p:spPr>
        <p:txBody>
          <a:bodyPr wrap="square" lIns="25400" rIns="25400" tIns="25400" bIns="25400" anchor="t">
            <a:spAutoFit/>
          </a:bodyPr>
          <a:lstStyle/>
          <a:p>
            <a:pPr algn="l">
              <a:lnSpc>
                <a:spcPct val="130000"/>
              </a:lnSpc>
            </a:pPr>
            <a:r>
              <a:rPr sz="1600" b="1" i="0">
                <a:solidFill>
                  <a:srgbClr val="FF743B"/>
                </a:solidFill>
                <a:latin typeface="Calibri"/>
              </a:rPr>
              <a:t>● </a:t>
            </a:r>
            <a:r>
              <a:rPr sz="1600" b="0" i="0">
                <a:solidFill>
                  <a:srgbClr val="1D1D30"/>
                </a:solidFill>
                <a:latin typeface="Calibri"/>
              </a:rPr>
              <a:t>Quien quiera comparte: caso real, prompt que usó, resultado</a:t>
            </a:r>
          </a:p>
          <a:p>
            <a:pPr algn="l">
              <a:lnSpc>
                <a:spcPct val="130000"/>
              </a:lnSpc>
            </a:pPr>
            <a:r>
              <a:rPr sz="1600" b="1" i="0">
                <a:solidFill>
                  <a:srgbClr val="FF743B"/>
                </a:solidFill>
                <a:latin typeface="Calibri"/>
              </a:rPr>
              <a:t>● </a:t>
            </a:r>
            <a:r>
              <a:rPr sz="1600" b="0" i="0">
                <a:solidFill>
                  <a:srgbClr val="1D1D30"/>
                </a:solidFill>
                <a:latin typeface="Calibri"/>
              </a:rPr>
              <a:t>El docente apunta los casos en pizarra para volver más tarde</a:t>
            </a:r>
          </a:p>
        </p:txBody>
      </p:sp>
      <p:sp>
        <p:nvSpPr>
          <p:cNvPr id="11" name="Rectangle 10"/>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571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143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14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857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429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00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72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143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715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286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429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001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72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144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715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39496" y="502920"/>
            <a:ext cx="3776472" cy="777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9496" y="1417320"/>
            <a:ext cx="6400800" cy="365760"/>
          </a:xfrm>
          <a:prstGeom prst="rect">
            <a:avLst/>
          </a:prstGeom>
          <a:noFill/>
        </p:spPr>
        <p:txBody>
          <a:bodyPr wrap="square" lIns="25400" rIns="25400" tIns="25400" bIns="25400" anchor="t">
            <a:spAutoFit/>
          </a:bodyPr>
          <a:lstStyle/>
          <a:p>
            <a:pPr algn="l"/>
            <a:r>
              <a:rPr sz="1400" b="0" i="0">
                <a:solidFill>
                  <a:srgbClr val="F0F46A"/>
                </a:solidFill>
                <a:latin typeface="Calibri"/>
              </a:rPr>
              <a:t>BLOQUE 2</a:t>
            </a:r>
          </a:p>
        </p:txBody>
      </p:sp>
      <p:sp>
        <p:nvSpPr>
          <p:cNvPr id="22" name="TextBox 21"/>
          <p:cNvSpPr txBox="1"/>
          <p:nvPr/>
        </p:nvSpPr>
        <p:spPr>
          <a:xfrm>
            <a:off x="539496" y="1920240"/>
            <a:ext cx="8229600" cy="2377440"/>
          </a:xfrm>
          <a:prstGeom prst="rect">
            <a:avLst/>
          </a:prstGeom>
          <a:noFill/>
        </p:spPr>
        <p:txBody>
          <a:bodyPr wrap="square" lIns="25400" rIns="25400" tIns="25400" bIns="25400" anchor="t">
            <a:spAutoFit/>
          </a:bodyPr>
          <a:lstStyle/>
          <a:p>
            <a:pPr algn="l">
              <a:lnSpc>
                <a:spcPct val="105000"/>
              </a:lnSpc>
            </a:pPr>
            <a:r>
              <a:rPr sz="4200" b="1" i="0">
                <a:solidFill>
                  <a:srgbClr val="FFFFFF"/>
                </a:solidFill>
                <a:latin typeface="Calibri"/>
              </a:rPr>
              <a:t>Cómo funciona</a:t>
            </a:r>
          </a:p>
          <a:p>
            <a:pPr algn="l">
              <a:lnSpc>
                <a:spcPct val="105000"/>
              </a:lnSpc>
            </a:pPr>
            <a:r>
              <a:rPr sz="4200" b="1" i="0">
                <a:solidFill>
                  <a:srgbClr val="FFFFFF"/>
                </a:solidFill>
                <a:latin typeface="Calibri"/>
              </a:rPr>
              <a:t>un LLM</a:t>
            </a:r>
          </a:p>
        </p:txBody>
      </p:sp>
      <p:sp>
        <p:nvSpPr>
          <p:cNvPr id="23" name="Rectangle 2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25" name="Rectangle 2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27" name="TextBox 26"/>
          <p:cNvSpPr txBox="1"/>
          <p:nvPr/>
        </p:nvSpPr>
        <p:spPr>
          <a:xfrm>
            <a:off x="8503920" y="4846320"/>
            <a:ext cx="457200" cy="228600"/>
          </a:xfrm>
          <a:prstGeom prst="rect">
            <a:avLst/>
          </a:prstGeom>
          <a:noFill/>
        </p:spPr>
        <p:txBody>
          <a:bodyPr wrap="square" lIns="25400" rIns="25400" tIns="25400" bIns="25400" anchor="t">
            <a:spAutoFit/>
          </a:bodyPr>
          <a:lstStyle/>
          <a:p>
            <a:pPr algn="r"/>
            <a:r>
              <a:rPr sz="1000" b="0" i="0">
                <a:solidFill>
                  <a:srgbClr val="FFFFFF"/>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200" b="1" i="0">
                <a:solidFill>
                  <a:srgbClr val="1D1D30"/>
                </a:solidFill>
                <a:latin typeface="Calibri"/>
              </a:rPr>
              <a:t>Un LLM, en una sola idea</a:t>
            </a:r>
          </a:p>
        </p:txBody>
      </p:sp>
      <p:sp>
        <p:nvSpPr>
          <p:cNvPr id="8" name="TextBox 7"/>
          <p:cNvSpPr txBox="1"/>
          <p:nvPr/>
        </p:nvSpPr>
        <p:spPr>
          <a:xfrm>
            <a:off x="411480" y="1463040"/>
            <a:ext cx="8229600" cy="3200400"/>
          </a:xfrm>
          <a:prstGeom prst="rect">
            <a:avLst/>
          </a:prstGeom>
          <a:noFill/>
        </p:spPr>
        <p:txBody>
          <a:bodyPr wrap="square" lIns="25400" rIns="25400" tIns="25400" bIns="25400" anchor="t">
            <a:spAutoFit/>
          </a:bodyPr>
          <a:lstStyle/>
          <a:p>
            <a:pPr algn="l">
              <a:lnSpc>
                <a:spcPct val="125000"/>
              </a:lnSpc>
            </a:pPr>
            <a:r>
              <a:rPr sz="2200" b="1" i="0">
                <a:solidFill>
                  <a:srgbClr val="1D1D30"/>
                </a:solidFill>
                <a:latin typeface="Calibri"/>
              </a:rPr>
              <a:t>Es un autocompletado a esteroides.</a:t>
            </a:r>
          </a:p>
          <a:p>
            <a:pPr algn="l">
              <a:lnSpc>
                <a:spcPct val="125000"/>
              </a:lnSpc>
            </a:pPr>
            <a:r>
              <a:rPr sz="1400" b="0" i="0">
                <a:solidFill>
                  <a:srgbClr val="1D1D30"/>
                </a:solidFill>
                <a:latin typeface="Calibri"/>
              </a:rPr>
              <a:t/>
            </a:r>
          </a:p>
          <a:p>
            <a:pPr algn="l">
              <a:lnSpc>
                <a:spcPct val="125000"/>
              </a:lnSpc>
            </a:pPr>
            <a:r>
              <a:rPr sz="1800" b="0" i="0">
                <a:solidFill>
                  <a:srgbClr val="1D1D30"/>
                </a:solidFill>
                <a:latin typeface="Calibri"/>
              </a:rPr>
              <a:t>Le das un texto (prompt) y predice qué token va a continuación. Luego repite el proceso con el nuevo token añadido al final. Y otra vez. Y otra.</a:t>
            </a:r>
          </a:p>
          <a:p>
            <a:pPr algn="l">
              <a:lnSpc>
                <a:spcPct val="125000"/>
              </a:lnSpc>
            </a:pPr>
            <a:r>
              <a:rPr sz="1400" b="0" i="0">
                <a:solidFill>
                  <a:srgbClr val="1D1D30"/>
                </a:solidFill>
                <a:latin typeface="Calibri"/>
              </a:rPr>
              <a:t/>
            </a:r>
          </a:p>
          <a:p>
            <a:pPr algn="l">
              <a:lnSpc>
                <a:spcPct val="125000"/>
              </a:lnSpc>
            </a:pPr>
            <a:r>
              <a:rPr sz="1800" b="0" i="1">
                <a:solidFill>
                  <a:srgbClr val="1D1D30"/>
                </a:solidFill>
                <a:latin typeface="Calibri"/>
              </a:rPr>
              <a:t>Eso es todo. La aparente «inteligencia» surge de hacer eso muchísimas veces sobre billones de palabras de entrenamiento.</a:t>
            </a:r>
          </a:p>
        </p:txBody>
      </p:sp>
      <p:sp>
        <p:nvSpPr>
          <p:cNvPr id="9" name="Rectangle 8"/>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000" b="1" i="0">
                <a:solidFill>
                  <a:srgbClr val="1D1D30"/>
                </a:solidFill>
                <a:latin typeface="Calibri"/>
              </a:rPr>
              <a:t>Dos tipos de modelos que oirás siempre</a:t>
            </a:r>
          </a:p>
        </p:txBody>
      </p:sp>
      <p:sp>
        <p:nvSpPr>
          <p:cNvPr id="8" name="Rectangle 7"/>
          <p:cNvSpPr/>
          <p:nvPr/>
        </p:nvSpPr>
        <p:spPr>
          <a:xfrm>
            <a:off x="411480" y="1463040"/>
            <a:ext cx="4023360" cy="41148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463040"/>
            <a:ext cx="4023360" cy="411480"/>
          </a:xfrm>
          <a:prstGeom prst="rect">
            <a:avLst/>
          </a:prstGeom>
          <a:noFill/>
        </p:spPr>
        <p:txBody>
          <a:bodyPr wrap="square" lIns="25400" rIns="25400" tIns="25400" bIns="25400" anchor="ctr">
            <a:spAutoFit/>
          </a:bodyPr>
          <a:lstStyle/>
          <a:p>
            <a:pPr algn="ctr"/>
            <a:r>
              <a:rPr sz="1600" b="1" i="0">
                <a:solidFill>
                  <a:srgbClr val="FFFFFF"/>
                </a:solidFill>
                <a:latin typeface="Calibri"/>
              </a:rPr>
              <a:t>Modelo fundacional</a:t>
            </a:r>
          </a:p>
        </p:txBody>
      </p:sp>
      <p:sp>
        <p:nvSpPr>
          <p:cNvPr id="10" name="TextBox 9"/>
          <p:cNvSpPr txBox="1"/>
          <p:nvPr/>
        </p:nvSpPr>
        <p:spPr>
          <a:xfrm>
            <a:off x="502920" y="1965960"/>
            <a:ext cx="3931920" cy="2743200"/>
          </a:xfrm>
          <a:prstGeom prst="rect">
            <a:avLst/>
          </a:prstGeom>
          <a:noFill/>
        </p:spPr>
        <p:txBody>
          <a:bodyPr wrap="square" lIns="25400" rIns="25400" tIns="25400" bIns="25400" anchor="t">
            <a:spAutoFit/>
          </a:bodyPr>
          <a:lstStyle/>
          <a:p>
            <a:pPr algn="l">
              <a:lnSpc>
                <a:spcPct val="130000"/>
              </a:lnSpc>
            </a:pPr>
            <a:r>
              <a:rPr sz="1400" b="1" i="0">
                <a:solidFill>
                  <a:srgbClr val="FF743B"/>
                </a:solidFill>
                <a:latin typeface="Calibri"/>
              </a:rPr>
              <a:t>● </a:t>
            </a:r>
            <a:r>
              <a:rPr sz="1400" b="0" i="0">
                <a:solidFill>
                  <a:srgbClr val="1D1D30"/>
                </a:solidFill>
                <a:latin typeface="Calibri"/>
              </a:rPr>
              <a:t>Entrenado con datos masivos generales</a:t>
            </a:r>
          </a:p>
          <a:p>
            <a:pPr algn="l">
              <a:lnSpc>
                <a:spcPct val="130000"/>
              </a:lnSpc>
            </a:pPr>
            <a:r>
              <a:rPr sz="1400" b="1" i="0">
                <a:solidFill>
                  <a:srgbClr val="FF743B"/>
                </a:solidFill>
                <a:latin typeface="Calibri"/>
              </a:rPr>
              <a:t>● </a:t>
            </a:r>
            <a:r>
              <a:rPr sz="1400" b="0" i="0">
                <a:solidFill>
                  <a:srgbClr val="1D1D30"/>
                </a:solidFill>
                <a:latin typeface="Calibri"/>
              </a:rPr>
              <a:t>Sabe «de todo», pero de nada en concreto</a:t>
            </a:r>
          </a:p>
          <a:p>
            <a:pPr algn="l">
              <a:lnSpc>
                <a:spcPct val="130000"/>
              </a:lnSpc>
            </a:pPr>
            <a:r>
              <a:rPr sz="1400" b="1" i="0">
                <a:solidFill>
                  <a:srgbClr val="FF743B"/>
                </a:solidFill>
                <a:latin typeface="Calibri"/>
              </a:rPr>
              <a:t>● </a:t>
            </a:r>
            <a:r>
              <a:rPr sz="1400" b="0" i="0">
                <a:solidFill>
                  <a:srgbClr val="1D1D30"/>
                </a:solidFill>
                <a:latin typeface="Calibri"/>
              </a:rPr>
              <a:t>Ej.: GPT-5, Claude Opus, Llama 4</a:t>
            </a:r>
          </a:p>
          <a:p>
            <a:pPr algn="l">
              <a:lnSpc>
                <a:spcPct val="130000"/>
              </a:lnSpc>
            </a:pPr>
            <a:r>
              <a:rPr sz="1400" b="1" i="0">
                <a:solidFill>
                  <a:srgbClr val="FF743B"/>
                </a:solidFill>
                <a:latin typeface="Calibri"/>
              </a:rPr>
              <a:t>● </a:t>
            </a:r>
            <a:r>
              <a:rPr sz="1400" b="0" i="0">
                <a:solidFill>
                  <a:srgbClr val="1D1D30"/>
                </a:solidFill>
                <a:latin typeface="Calibri"/>
              </a:rPr>
              <a:t>Muy caro de entrenar (millones de €)</a:t>
            </a:r>
          </a:p>
          <a:p>
            <a:pPr algn="l">
              <a:lnSpc>
                <a:spcPct val="130000"/>
              </a:lnSpc>
            </a:pPr>
            <a:r>
              <a:rPr sz="1400" b="1" i="0">
                <a:solidFill>
                  <a:srgbClr val="FF743B"/>
                </a:solidFill>
                <a:latin typeface="Calibri"/>
              </a:rPr>
              <a:t>● </a:t>
            </a:r>
            <a:r>
              <a:rPr sz="1400" b="0" i="0">
                <a:solidFill>
                  <a:srgbClr val="1D1D30"/>
                </a:solidFill>
                <a:latin typeface="Calibri"/>
              </a:rPr>
              <a:t>El 99% de las personas usa esto</a:t>
            </a:r>
          </a:p>
        </p:txBody>
      </p:sp>
      <p:sp>
        <p:nvSpPr>
          <p:cNvPr id="11" name="Rectangle 10"/>
          <p:cNvSpPr/>
          <p:nvPr/>
        </p:nvSpPr>
        <p:spPr>
          <a:xfrm>
            <a:off x="4709160" y="1463040"/>
            <a:ext cx="4023360" cy="41148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1463040"/>
            <a:ext cx="4023360" cy="411480"/>
          </a:xfrm>
          <a:prstGeom prst="rect">
            <a:avLst/>
          </a:prstGeom>
          <a:noFill/>
        </p:spPr>
        <p:txBody>
          <a:bodyPr wrap="square" lIns="25400" rIns="25400" tIns="25400" bIns="25400" anchor="ctr">
            <a:spAutoFit/>
          </a:bodyPr>
          <a:lstStyle/>
          <a:p>
            <a:pPr algn="ctr"/>
            <a:r>
              <a:rPr sz="1600" b="1" i="0">
                <a:solidFill>
                  <a:srgbClr val="FFFFFF"/>
                </a:solidFill>
                <a:latin typeface="Calibri"/>
              </a:rPr>
              <a:t>Modelo fine-tuned</a:t>
            </a:r>
          </a:p>
        </p:txBody>
      </p:sp>
      <p:sp>
        <p:nvSpPr>
          <p:cNvPr id="13" name="TextBox 12"/>
          <p:cNvSpPr txBox="1"/>
          <p:nvPr/>
        </p:nvSpPr>
        <p:spPr>
          <a:xfrm>
            <a:off x="4800600" y="1965960"/>
            <a:ext cx="3931920" cy="2743200"/>
          </a:xfrm>
          <a:prstGeom prst="rect">
            <a:avLst/>
          </a:prstGeom>
          <a:noFill/>
        </p:spPr>
        <p:txBody>
          <a:bodyPr wrap="square" lIns="25400" rIns="25400" tIns="25400" bIns="25400" anchor="t">
            <a:spAutoFit/>
          </a:bodyPr>
          <a:lstStyle/>
          <a:p>
            <a:pPr algn="l">
              <a:lnSpc>
                <a:spcPct val="130000"/>
              </a:lnSpc>
            </a:pPr>
            <a:r>
              <a:rPr sz="1400" b="1" i="0">
                <a:solidFill>
                  <a:srgbClr val="1D1D30"/>
                </a:solidFill>
                <a:latin typeface="Calibri"/>
              </a:rPr>
              <a:t>● </a:t>
            </a:r>
            <a:r>
              <a:rPr sz="1400" b="0" i="0">
                <a:solidFill>
                  <a:srgbClr val="1D1D30"/>
                </a:solidFill>
                <a:latin typeface="Calibri"/>
              </a:rPr>
              <a:t>Modelo fundacional + entrenamiento extra</a:t>
            </a:r>
          </a:p>
          <a:p>
            <a:pPr algn="l">
              <a:lnSpc>
                <a:spcPct val="130000"/>
              </a:lnSpc>
            </a:pPr>
            <a:r>
              <a:rPr sz="1400" b="1" i="0">
                <a:solidFill>
                  <a:srgbClr val="1D1D30"/>
                </a:solidFill>
                <a:latin typeface="Calibri"/>
              </a:rPr>
              <a:t>● </a:t>
            </a:r>
            <a:r>
              <a:rPr sz="1400" b="0" i="0">
                <a:solidFill>
                  <a:srgbClr val="1D1D30"/>
                </a:solidFill>
                <a:latin typeface="Calibri"/>
              </a:rPr>
              <a:t>Especializado en una tarea o dominio</a:t>
            </a:r>
          </a:p>
          <a:p>
            <a:pPr algn="l">
              <a:lnSpc>
                <a:spcPct val="130000"/>
              </a:lnSpc>
            </a:pPr>
            <a:r>
              <a:rPr sz="1400" b="1" i="0">
                <a:solidFill>
                  <a:srgbClr val="1D1D30"/>
                </a:solidFill>
                <a:latin typeface="Calibri"/>
              </a:rPr>
              <a:t>● </a:t>
            </a:r>
            <a:r>
              <a:rPr sz="1400" b="0" i="0">
                <a:solidFill>
                  <a:srgbClr val="1D1D30"/>
                </a:solidFill>
                <a:latin typeface="Calibri"/>
              </a:rPr>
              <a:t>Ej.: un GPT médico, un Claude legal</a:t>
            </a:r>
          </a:p>
          <a:p>
            <a:pPr algn="l">
              <a:lnSpc>
                <a:spcPct val="130000"/>
              </a:lnSpc>
            </a:pPr>
            <a:r>
              <a:rPr sz="1400" b="1" i="0">
                <a:solidFill>
                  <a:srgbClr val="1D1D30"/>
                </a:solidFill>
                <a:latin typeface="Calibri"/>
              </a:rPr>
              <a:t>● </a:t>
            </a:r>
            <a:r>
              <a:rPr sz="1400" b="0" i="0">
                <a:solidFill>
                  <a:srgbClr val="1D1D30"/>
                </a:solidFill>
                <a:latin typeface="Calibri"/>
              </a:rPr>
              <a:t>Mucho más barato (datos del nicho)</a:t>
            </a:r>
          </a:p>
          <a:p>
            <a:pPr algn="l">
              <a:lnSpc>
                <a:spcPct val="130000"/>
              </a:lnSpc>
            </a:pPr>
            <a:r>
              <a:rPr sz="1400" b="1" i="0">
                <a:solidFill>
                  <a:srgbClr val="1D1D30"/>
                </a:solidFill>
                <a:latin typeface="Calibri"/>
              </a:rPr>
              <a:t>● </a:t>
            </a:r>
            <a:r>
              <a:rPr sz="1400" b="0" i="0">
                <a:solidFill>
                  <a:srgbClr val="1D1D30"/>
                </a:solidFill>
                <a:latin typeface="Calibri"/>
              </a:rPr>
              <a:t>Útil cuando el caso es muy específico</a:t>
            </a:r>
          </a:p>
        </p:txBody>
      </p:sp>
      <p:sp>
        <p:nvSpPr>
          <p:cNvPr id="14" name="Rectangle 13"/>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000" b="1" i="0">
                <a:solidFill>
                  <a:srgbClr val="1D1D30"/>
                </a:solidFill>
                <a:latin typeface="Calibri"/>
              </a:rPr>
              <a:t>Tokens: la unidad mínima</a:t>
            </a:r>
          </a:p>
        </p:txBody>
      </p:sp>
      <p:sp>
        <p:nvSpPr>
          <p:cNvPr id="8" name="Rectangle 7"/>
          <p:cNvSpPr/>
          <p:nvPr/>
        </p:nvSpPr>
        <p:spPr>
          <a:xfrm>
            <a:off x="640080" y="1554480"/>
            <a:ext cx="7863840" cy="14630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54480"/>
            <a:ext cx="7498079" cy="1463040"/>
          </a:xfrm>
          <a:prstGeom prst="rect">
            <a:avLst/>
          </a:prstGeom>
          <a:noFill/>
        </p:spPr>
        <p:txBody>
          <a:bodyPr wrap="square" lIns="25400" rIns="25400" tIns="25400" bIns="25400" anchor="ctr">
            <a:spAutoFit/>
          </a:bodyPr>
          <a:lstStyle/>
          <a:p>
            <a:pPr algn="ctr">
              <a:lnSpc>
                <a:spcPct val="120000"/>
              </a:lnSpc>
            </a:pPr>
            <a:r>
              <a:rPr sz="2400" b="1" i="0">
                <a:solidFill>
                  <a:srgbClr val="FFFFFF"/>
                </a:solidFill>
                <a:latin typeface="Calibri"/>
              </a:rPr>
              <a:t>«Hola» → [69112]</a:t>
            </a:r>
          </a:p>
          <a:p>
            <a:pPr algn="ctr">
              <a:lnSpc>
                <a:spcPct val="120000"/>
              </a:lnSpc>
            </a:pPr>
            <a:r>
              <a:rPr sz="2400" b="1" i="0">
                <a:solidFill>
                  <a:srgbClr val="FFFFFF"/>
                </a:solidFill>
                <a:latin typeface="Calibri"/>
              </a:rPr>
              <a:t>«keepcoding» → [13312, 49467]</a:t>
            </a:r>
          </a:p>
        </p:txBody>
      </p:sp>
      <p:sp>
        <p:nvSpPr>
          <p:cNvPr id="10" name="TextBox 9"/>
          <p:cNvSpPr txBox="1"/>
          <p:nvPr/>
        </p:nvSpPr>
        <p:spPr>
          <a:xfrm>
            <a:off x="640080" y="3383280"/>
            <a:ext cx="7863840" cy="1371600"/>
          </a:xfrm>
          <a:prstGeom prst="rect">
            <a:avLst/>
          </a:prstGeom>
          <a:noFill/>
        </p:spPr>
        <p:txBody>
          <a:bodyPr wrap="square" lIns="25400" rIns="25400" tIns="25400" bIns="25400" anchor="t">
            <a:spAutoFit/>
          </a:bodyPr>
          <a:lstStyle/>
          <a:p>
            <a:pPr algn="l">
              <a:lnSpc>
                <a:spcPct val="130000"/>
              </a:lnSpc>
            </a:pPr>
            <a:r>
              <a:rPr sz="1600" b="1" i="0">
                <a:solidFill>
                  <a:srgbClr val="FF743B"/>
                </a:solidFill>
                <a:latin typeface="Calibri"/>
              </a:rPr>
              <a:t>● </a:t>
            </a:r>
            <a:r>
              <a:rPr sz="1600" b="0" i="0">
                <a:solidFill>
                  <a:srgbClr val="1D1D30"/>
                </a:solidFill>
                <a:latin typeface="Calibri"/>
              </a:rPr>
              <a:t>Un token ≈ 4 caracteres en inglés, ~3 caracteres en español</a:t>
            </a:r>
          </a:p>
          <a:p>
            <a:pPr algn="l">
              <a:lnSpc>
                <a:spcPct val="130000"/>
              </a:lnSpc>
            </a:pPr>
            <a:r>
              <a:rPr sz="1600" b="1" i="0">
                <a:solidFill>
                  <a:srgbClr val="FF743B"/>
                </a:solidFill>
                <a:latin typeface="Calibri"/>
              </a:rPr>
              <a:t>● </a:t>
            </a:r>
            <a:r>
              <a:rPr sz="1600" b="0" i="0">
                <a:solidFill>
                  <a:srgbClr val="1D1D30"/>
                </a:solidFill>
                <a:latin typeface="Calibri"/>
              </a:rPr>
              <a:t>El modelo solo «ve» y «piensa» en estos números</a:t>
            </a:r>
          </a:p>
          <a:p>
            <a:pPr algn="l">
              <a:lnSpc>
                <a:spcPct val="130000"/>
              </a:lnSpc>
            </a:pPr>
            <a:r>
              <a:rPr sz="1600" b="1" i="0">
                <a:solidFill>
                  <a:srgbClr val="FF743B"/>
                </a:solidFill>
                <a:latin typeface="Calibri"/>
              </a:rPr>
              <a:t>● </a:t>
            </a:r>
            <a:r>
              <a:rPr sz="1600" b="0" i="0">
                <a:solidFill>
                  <a:srgbClr val="1D1D30"/>
                </a:solidFill>
                <a:latin typeface="Calibri"/>
              </a:rPr>
              <a:t>El vocabulario del tokenizer tiene ~100K-200K tokens</a:t>
            </a:r>
          </a:p>
          <a:p>
            <a:pPr algn="l">
              <a:lnSpc>
                <a:spcPct val="130000"/>
              </a:lnSpc>
            </a:pPr>
            <a:r>
              <a:rPr sz="1600" b="1" i="0">
                <a:solidFill>
                  <a:srgbClr val="FF743B"/>
                </a:solidFill>
                <a:latin typeface="Calibri"/>
              </a:rPr>
              <a:t>● </a:t>
            </a:r>
            <a:r>
              <a:rPr sz="1600" b="0" i="0">
                <a:solidFill>
                  <a:srgbClr val="1D1D30"/>
                </a:solidFill>
                <a:latin typeface="Calibri"/>
              </a:rPr>
              <a:t>Ojo: el español pesa ~30% más que el inglés en tokens</a:t>
            </a:r>
          </a:p>
        </p:txBody>
      </p:sp>
      <p:sp>
        <p:nvSpPr>
          <p:cNvPr id="11" name="Rectangle 10"/>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365760"/>
            <a:ext cx="8229600" cy="502920"/>
          </a:xfrm>
          <a:prstGeom prst="rect">
            <a:avLst/>
          </a:prstGeom>
          <a:noFill/>
        </p:spPr>
        <p:txBody>
          <a:bodyPr wrap="square" lIns="25400" rIns="25400" tIns="25400" bIns="25400" anchor="t">
            <a:spAutoFit/>
          </a:bodyPr>
          <a:lstStyle/>
          <a:p>
            <a:pPr algn="l"/>
            <a:r>
              <a:rPr sz="2200" b="1" i="0">
                <a:solidFill>
                  <a:srgbClr val="1D1D30"/>
                </a:solidFill>
                <a:latin typeface="Calibri"/>
              </a:rPr>
              <a:t>Tokenizer en vivo</a:t>
            </a:r>
          </a:p>
        </p:txBody>
      </p:sp>
      <p:sp>
        <p:nvSpPr>
          <p:cNvPr id="8" name="Rectangle 7"/>
          <p:cNvSpPr/>
          <p:nvPr/>
        </p:nvSpPr>
        <p:spPr>
          <a:xfrm>
            <a:off x="411480" y="960120"/>
            <a:ext cx="8321040" cy="365760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960120"/>
            <a:ext cx="82296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960120"/>
            <a:ext cx="822960" cy="274320"/>
          </a:xfrm>
          <a:prstGeom prst="rect">
            <a:avLst/>
          </a:prstGeom>
          <a:noFill/>
        </p:spPr>
        <p:txBody>
          <a:bodyPr wrap="square" lIns="25400" rIns="25400" tIns="25400" bIns="25400" anchor="ctr">
            <a:spAutoFit/>
          </a:bodyPr>
          <a:lstStyle/>
          <a:p>
            <a:pPr algn="ctr"/>
            <a:r>
              <a:rPr sz="1100" b="1" i="0">
                <a:solidFill>
                  <a:srgbClr val="FFFFFF"/>
                </a:solidFill>
                <a:latin typeface="Calibri"/>
              </a:rPr>
              <a:t>python</a:t>
            </a:r>
          </a:p>
        </p:txBody>
      </p:sp>
      <p:sp>
        <p:nvSpPr>
          <p:cNvPr id="11" name="TextBox 10"/>
          <p:cNvSpPr txBox="1"/>
          <p:nvPr/>
        </p:nvSpPr>
        <p:spPr>
          <a:xfrm>
            <a:off x="594360" y="1325880"/>
            <a:ext cx="8001000" cy="3200400"/>
          </a:xfrm>
          <a:prstGeom prst="rect">
            <a:avLst/>
          </a:prstGeom>
          <a:noFill/>
        </p:spPr>
        <p:txBody>
          <a:bodyPr wrap="square" lIns="25400" rIns="25400" tIns="25400" bIns="25400" anchor="t">
            <a:spAutoFit/>
          </a:bodyPr>
          <a:lstStyle/>
          <a:p>
            <a:pPr algn="l">
              <a:lnSpc>
                <a:spcPct val="110000"/>
              </a:lnSpc>
            </a:pPr>
            <a:r>
              <a:rPr sz="1100" b="0" i="0">
                <a:solidFill>
                  <a:srgbClr val="FFFFFF"/>
                </a:solidFill>
                <a:latin typeface="Consolas"/>
              </a:rPr>
              <a:t>import tiktoken</a:t>
            </a:r>
          </a:p>
          <a:p>
            <a:pPr algn="l">
              <a:lnSpc>
                <a:spcPct val="110000"/>
              </a:lnSpc>
            </a:pPr>
            <a:r>
              <a:rPr sz="1100" b="0" i="0">
                <a:solidFill>
                  <a:srgbClr val="FFFFFF"/>
                </a:solidFill>
                <a:latin typeface="Consolas"/>
              </a:rPr>
              <a:t/>
            </a:r>
          </a:p>
          <a:p>
            <a:pPr algn="l">
              <a:lnSpc>
                <a:spcPct val="110000"/>
              </a:lnSpc>
            </a:pPr>
            <a:r>
              <a:rPr sz="1100" b="0" i="0">
                <a:solidFill>
                  <a:srgbClr val="FFFFFF"/>
                </a:solidFill>
                <a:latin typeface="Consolas"/>
              </a:rPr>
              <a:t>enc = tiktoken.encoding_for_model("gpt-4o")</a:t>
            </a:r>
          </a:p>
          <a:p>
            <a:pPr algn="l">
              <a:lnSpc>
                <a:spcPct val="110000"/>
              </a:lnSpc>
            </a:pPr>
            <a:r>
              <a:rPr sz="1100" b="0" i="0">
                <a:solidFill>
                  <a:srgbClr val="FFFFFF"/>
                </a:solidFill>
                <a:latin typeface="Consolas"/>
              </a:rPr>
              <a:t/>
            </a:r>
          </a:p>
          <a:p>
            <a:pPr algn="l">
              <a:lnSpc>
                <a:spcPct val="110000"/>
              </a:lnSpc>
            </a:pPr>
            <a:r>
              <a:rPr sz="1100" b="0" i="0">
                <a:solidFill>
                  <a:srgbClr val="FFFFFF"/>
                </a:solidFill>
                <a:latin typeface="Consolas"/>
              </a:rPr>
              <a:t>texto = "El prompt engineering es clave en 2026."</a:t>
            </a:r>
          </a:p>
          <a:p>
            <a:pPr algn="l">
              <a:lnSpc>
                <a:spcPct val="110000"/>
              </a:lnSpc>
            </a:pPr>
            <a:r>
              <a:rPr sz="1100" b="0" i="0">
                <a:solidFill>
                  <a:srgbClr val="FFFFFF"/>
                </a:solidFill>
                <a:latin typeface="Consolas"/>
              </a:rPr>
              <a:t>tokens = enc.encode(texto)</a:t>
            </a:r>
          </a:p>
          <a:p>
            <a:pPr algn="l">
              <a:lnSpc>
                <a:spcPct val="110000"/>
              </a:lnSpc>
            </a:pPr>
            <a:r>
              <a:rPr sz="1100" b="0" i="0">
                <a:solidFill>
                  <a:srgbClr val="FFFFFF"/>
                </a:solidFill>
                <a:latin typeface="Consolas"/>
              </a:rPr>
              <a:t/>
            </a:r>
          </a:p>
          <a:p>
            <a:pPr algn="l">
              <a:lnSpc>
                <a:spcPct val="110000"/>
              </a:lnSpc>
            </a:pPr>
            <a:r>
              <a:rPr sz="1100" b="0" i="0">
                <a:solidFill>
                  <a:srgbClr val="FFFFFF"/>
                </a:solidFill>
                <a:latin typeface="Consolas"/>
              </a:rPr>
              <a:t>print(f"{len(tokens)} tokens totales")</a:t>
            </a:r>
          </a:p>
          <a:p>
            <a:pPr algn="l">
              <a:lnSpc>
                <a:spcPct val="110000"/>
              </a:lnSpc>
            </a:pPr>
            <a:r>
              <a:rPr sz="1100" b="0" i="0">
                <a:solidFill>
                  <a:srgbClr val="FFFFFF"/>
                </a:solidFill>
                <a:latin typeface="Consolas"/>
              </a:rPr>
              <a:t>for t in tokens:</a:t>
            </a:r>
          </a:p>
          <a:p>
            <a:pPr algn="l">
              <a:lnSpc>
                <a:spcPct val="110000"/>
              </a:lnSpc>
            </a:pPr>
            <a:r>
              <a:rPr sz="1100" b="0" i="0">
                <a:solidFill>
                  <a:srgbClr val="FFFFFF"/>
                </a:solidFill>
                <a:latin typeface="Consolas"/>
              </a:rPr>
              <a:t>    print(f"  {t:&gt;6} -&gt; {enc.decode([t])!r}")</a:t>
            </a:r>
          </a:p>
        </p:txBody>
      </p:sp>
      <p:sp>
        <p:nvSpPr>
          <p:cNvPr id="12" name="TextBox 11"/>
          <p:cNvSpPr txBox="1"/>
          <p:nvPr/>
        </p:nvSpPr>
        <p:spPr>
          <a:xfrm>
            <a:off x="411480" y="4663440"/>
            <a:ext cx="8321040" cy="228600"/>
          </a:xfrm>
          <a:prstGeom prst="rect">
            <a:avLst/>
          </a:prstGeom>
          <a:noFill/>
        </p:spPr>
        <p:txBody>
          <a:bodyPr wrap="square" lIns="25400" rIns="25400" tIns="25400" bIns="25400" anchor="t">
            <a:spAutoFit/>
          </a:bodyPr>
          <a:lstStyle/>
          <a:p>
            <a:pPr algn="l"/>
            <a:r>
              <a:rPr sz="1000" b="0" i="1">
                <a:solidFill>
                  <a:srgbClr val="808095"/>
                </a:solidFill>
                <a:latin typeface="Calibri"/>
              </a:rPr>
              <a:t>También online sin código: platform.openai.com/tokenizer</a:t>
            </a:r>
          </a:p>
        </p:txBody>
      </p:sp>
      <p:sp>
        <p:nvSpPr>
          <p:cNvPr id="13" name="Rectangle 12"/>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Rectangle 6"/>
          <p:cNvSpPr/>
          <p:nvPr/>
        </p:nvSpPr>
        <p:spPr>
          <a:xfrm>
            <a:off x="411480" y="502920"/>
            <a:ext cx="2377440" cy="365760"/>
          </a:xfrm>
          <a:prstGeom prst="rect">
            <a:avLst/>
          </a:prstGeom>
          <a:solidFill>
            <a:srgbClr val="F0F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502920"/>
            <a:ext cx="2377440" cy="365760"/>
          </a:xfrm>
          <a:prstGeom prst="rect">
            <a:avLst/>
          </a:prstGeom>
          <a:noFill/>
        </p:spPr>
        <p:txBody>
          <a:bodyPr wrap="square" lIns="25400" rIns="25400" tIns="25400" bIns="25400" anchor="ctr">
            <a:spAutoFit/>
          </a:bodyPr>
          <a:lstStyle/>
          <a:p>
            <a:pPr algn="ctr"/>
            <a:r>
              <a:rPr sz="1300" b="1" i="0">
                <a:solidFill>
                  <a:srgbClr val="1D1D30"/>
                </a:solidFill>
                <a:latin typeface="Calibri"/>
              </a:rPr>
              <a:t>¡HORA DE TRABAJAR!</a:t>
            </a:r>
          </a:p>
        </p:txBody>
      </p:sp>
      <p:sp>
        <p:nvSpPr>
          <p:cNvPr id="9" name="Rectangle 8"/>
          <p:cNvSpPr/>
          <p:nvPr/>
        </p:nvSpPr>
        <p:spPr>
          <a:xfrm>
            <a:off x="411480" y="1143000"/>
            <a:ext cx="1280160" cy="36576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143000"/>
            <a:ext cx="1280160" cy="365760"/>
          </a:xfrm>
          <a:prstGeom prst="rect">
            <a:avLst/>
          </a:prstGeom>
          <a:noFill/>
        </p:spPr>
        <p:txBody>
          <a:bodyPr wrap="square" lIns="25400" rIns="25400" tIns="25400" bIns="25400" anchor="ctr">
            <a:spAutoFit/>
          </a:bodyPr>
          <a:lstStyle/>
          <a:p>
            <a:pPr algn="ctr"/>
            <a:r>
              <a:rPr sz="1400" b="1" i="0">
                <a:solidFill>
                  <a:srgbClr val="FFFFFF"/>
                </a:solidFill>
                <a:latin typeface="Calibri"/>
              </a:rPr>
              <a:t>Ejercicio 1</a:t>
            </a:r>
          </a:p>
        </p:txBody>
      </p:sp>
      <p:sp>
        <p:nvSpPr>
          <p:cNvPr id="11" name="Rectangle 10"/>
          <p:cNvSpPr/>
          <p:nvPr/>
        </p:nvSpPr>
        <p:spPr>
          <a:xfrm>
            <a:off x="1783080" y="1143000"/>
            <a:ext cx="1280160" cy="365760"/>
          </a:xfrm>
          <a:prstGeom prst="rect">
            <a:avLst/>
          </a:prstGeom>
          <a:solidFill>
            <a:srgbClr val="F0F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83080" y="1143000"/>
            <a:ext cx="1280160" cy="365760"/>
          </a:xfrm>
          <a:prstGeom prst="rect">
            <a:avLst/>
          </a:prstGeom>
          <a:noFill/>
        </p:spPr>
        <p:txBody>
          <a:bodyPr wrap="square" lIns="25400" rIns="25400" tIns="25400" bIns="25400" anchor="ctr">
            <a:spAutoFit/>
          </a:bodyPr>
          <a:lstStyle/>
          <a:p>
            <a:pPr algn="ctr"/>
            <a:r>
              <a:rPr sz="1400" b="1" i="0">
                <a:solidFill>
                  <a:srgbClr val="1D1D30"/>
                </a:solidFill>
                <a:latin typeface="Calibri"/>
              </a:rPr>
              <a:t>5 min</a:t>
            </a:r>
          </a:p>
        </p:txBody>
      </p:sp>
      <p:sp>
        <p:nvSpPr>
          <p:cNvPr id="13" name="TextBox 12"/>
          <p:cNvSpPr txBox="1"/>
          <p:nvPr/>
        </p:nvSpPr>
        <p:spPr>
          <a:xfrm>
            <a:off x="411480" y="1828800"/>
            <a:ext cx="8229600" cy="2743200"/>
          </a:xfrm>
          <a:prstGeom prst="rect">
            <a:avLst/>
          </a:prstGeom>
          <a:noFill/>
        </p:spPr>
        <p:txBody>
          <a:bodyPr wrap="square" lIns="25400" rIns="25400" tIns="25400" bIns="25400" anchor="t">
            <a:spAutoFit/>
          </a:bodyPr>
          <a:lstStyle/>
          <a:p>
            <a:pPr algn="l">
              <a:lnSpc>
                <a:spcPct val="140000"/>
              </a:lnSpc>
            </a:pPr>
            <a:r>
              <a:rPr sz="1800" b="1" i="0">
                <a:solidFill>
                  <a:srgbClr val="1D1D30"/>
                </a:solidFill>
                <a:latin typeface="Calibri"/>
              </a:rPr>
              <a:t>Misión: </a:t>
            </a:r>
            <a:r>
              <a:rPr sz="1800" b="0" i="0">
                <a:solidFill>
                  <a:srgbClr val="1D1D30"/>
                </a:solidFill>
                <a:latin typeface="Calibri"/>
              </a:rPr>
              <a:t>Tokeniza la misma frase en español y en inglés en platform.openai.com/tokenizer. Anota la diferencia de tokens. Prueba luego con código Python (`def hello():` etc).</a:t>
            </a:r>
          </a:p>
          <a:p>
            <a:pPr algn="l">
              <a:lnSpc>
                <a:spcPct val="140000"/>
              </a:lnSpc>
            </a:pPr>
            <a:r>
              <a:rPr sz="1800" b="1" i="0">
                <a:solidFill>
                  <a:srgbClr val="1D1D30"/>
                </a:solidFill>
                <a:latin typeface="Calibri"/>
              </a:rPr>
              <a:t>Herramienta: </a:t>
            </a:r>
            <a:r>
              <a:rPr sz="1800" b="0" i="0">
                <a:solidFill>
                  <a:srgbClr val="1D1D30"/>
                </a:solidFill>
                <a:latin typeface="Calibri"/>
              </a:rPr>
              <a:t>platform.openai.com/tokenizer</a:t>
            </a:r>
          </a:p>
          <a:p>
            <a:pPr algn="l">
              <a:lnSpc>
                <a:spcPct val="140000"/>
              </a:lnSpc>
            </a:pPr>
            <a:r>
              <a:rPr sz="1800" b="1" i="0">
                <a:solidFill>
                  <a:srgbClr val="1D1D30"/>
                </a:solidFill>
                <a:latin typeface="Calibri"/>
              </a:rPr>
              <a:t>Objetivo: </a:t>
            </a:r>
            <a:r>
              <a:rPr sz="1800" b="0" i="0">
                <a:solidFill>
                  <a:srgbClr val="1D1D30"/>
                </a:solidFill>
                <a:latin typeface="Calibri"/>
              </a:rPr>
              <a:t>Sentir físicamente por qué el idioma y el formato afectan al coste y a cuánto cabe en la ventana.</a:t>
            </a:r>
          </a:p>
        </p:txBody>
      </p:sp>
      <p:sp>
        <p:nvSpPr>
          <p:cNvPr id="14" name="Rectangle 13"/>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2800" b="1" i="0">
                <a:solidFill>
                  <a:srgbClr val="1D1D30"/>
                </a:solidFill>
                <a:latin typeface="Calibri"/>
              </a:rPr>
              <a:t>Ventana de contexto: lo que el modelo ve a la vez</a:t>
            </a:r>
          </a:p>
        </p:txBody>
      </p:sp>
      <p:sp>
        <p:nvSpPr>
          <p:cNvPr id="8" name="Rectangle 7"/>
          <p:cNvSpPr/>
          <p:nvPr/>
        </p:nvSpPr>
        <p:spPr>
          <a:xfrm>
            <a:off x="411480" y="1463040"/>
            <a:ext cx="8321040" cy="45720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463040"/>
            <a:ext cx="2080260" cy="457200"/>
          </a:xfrm>
          <a:prstGeom prst="rect">
            <a:avLst/>
          </a:prstGeom>
          <a:noFill/>
        </p:spPr>
        <p:txBody>
          <a:bodyPr wrap="square" lIns="25400" rIns="25400" tIns="25400" bIns="25400" anchor="ctr">
            <a:spAutoFit/>
          </a:bodyPr>
          <a:lstStyle/>
          <a:p>
            <a:pPr algn="ctr"/>
            <a:r>
              <a:rPr sz="1400" b="1" i="0">
                <a:solidFill>
                  <a:srgbClr val="FFFFFF"/>
                </a:solidFill>
                <a:latin typeface="Calibri"/>
              </a:rPr>
              <a:t>Modelo</a:t>
            </a:r>
          </a:p>
        </p:txBody>
      </p:sp>
      <p:sp>
        <p:nvSpPr>
          <p:cNvPr id="10" name="TextBox 9"/>
          <p:cNvSpPr txBox="1"/>
          <p:nvPr/>
        </p:nvSpPr>
        <p:spPr>
          <a:xfrm>
            <a:off x="2491740" y="1463040"/>
            <a:ext cx="2080260" cy="457200"/>
          </a:xfrm>
          <a:prstGeom prst="rect">
            <a:avLst/>
          </a:prstGeom>
          <a:noFill/>
        </p:spPr>
        <p:txBody>
          <a:bodyPr wrap="square" lIns="25400" rIns="25400" tIns="25400" bIns="25400" anchor="ctr">
            <a:spAutoFit/>
          </a:bodyPr>
          <a:lstStyle/>
          <a:p>
            <a:pPr algn="ctr"/>
            <a:r>
              <a:rPr sz="1400" b="1" i="0">
                <a:solidFill>
                  <a:srgbClr val="FFFFFF"/>
                </a:solidFill>
                <a:latin typeface="Calibri"/>
              </a:rPr>
              <a:t>Ventana</a:t>
            </a:r>
          </a:p>
        </p:txBody>
      </p:sp>
      <p:sp>
        <p:nvSpPr>
          <p:cNvPr id="11" name="TextBox 10"/>
          <p:cNvSpPr txBox="1"/>
          <p:nvPr/>
        </p:nvSpPr>
        <p:spPr>
          <a:xfrm>
            <a:off x="4572000" y="1463040"/>
            <a:ext cx="2080260" cy="457200"/>
          </a:xfrm>
          <a:prstGeom prst="rect">
            <a:avLst/>
          </a:prstGeom>
          <a:noFill/>
        </p:spPr>
        <p:txBody>
          <a:bodyPr wrap="square" lIns="25400" rIns="25400" tIns="25400" bIns="25400" anchor="ctr">
            <a:spAutoFit/>
          </a:bodyPr>
          <a:lstStyle/>
          <a:p>
            <a:pPr algn="ctr"/>
            <a:r>
              <a:rPr sz="1400" b="1" i="0">
                <a:solidFill>
                  <a:srgbClr val="FFFFFF"/>
                </a:solidFill>
                <a:latin typeface="Calibri"/>
              </a:rPr>
              <a:t>Equivale a</a:t>
            </a:r>
          </a:p>
        </p:txBody>
      </p:sp>
      <p:sp>
        <p:nvSpPr>
          <p:cNvPr id="12" name="TextBox 11"/>
          <p:cNvSpPr txBox="1"/>
          <p:nvPr/>
        </p:nvSpPr>
        <p:spPr>
          <a:xfrm>
            <a:off x="6652260" y="1463040"/>
            <a:ext cx="2080260" cy="457200"/>
          </a:xfrm>
          <a:prstGeom prst="rect">
            <a:avLst/>
          </a:prstGeom>
          <a:noFill/>
        </p:spPr>
        <p:txBody>
          <a:bodyPr wrap="square" lIns="25400" rIns="25400" tIns="25400" bIns="25400" anchor="ctr">
            <a:spAutoFit/>
          </a:bodyPr>
          <a:lstStyle/>
          <a:p>
            <a:pPr algn="ctr"/>
            <a:r>
              <a:rPr sz="1400" b="1" i="0">
                <a:solidFill>
                  <a:srgbClr val="FFFFFF"/>
                </a:solidFill>
                <a:latin typeface="Calibri"/>
              </a:rPr>
              <a:t>Notas</a:t>
            </a:r>
          </a:p>
        </p:txBody>
      </p:sp>
      <p:sp>
        <p:nvSpPr>
          <p:cNvPr id="13" name="Rectangle 12"/>
          <p:cNvSpPr/>
          <p:nvPr/>
        </p:nvSpPr>
        <p:spPr>
          <a:xfrm>
            <a:off x="411480" y="1920240"/>
            <a:ext cx="83210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920240"/>
            <a:ext cx="2080260" cy="411480"/>
          </a:xfrm>
          <a:prstGeom prst="rect">
            <a:avLst/>
          </a:prstGeom>
          <a:noFill/>
        </p:spPr>
        <p:txBody>
          <a:bodyPr wrap="square" lIns="25400" rIns="25400" tIns="25400" bIns="25400" anchor="ctr">
            <a:spAutoFit/>
          </a:bodyPr>
          <a:lstStyle/>
          <a:p>
            <a:pPr algn="l"/>
            <a:r>
              <a:rPr sz="1100" b="1" i="0">
                <a:solidFill>
                  <a:srgbClr val="1D1D30"/>
                </a:solidFill>
                <a:latin typeface="Calibri"/>
              </a:rPr>
              <a:t>GPT-5.2</a:t>
            </a:r>
          </a:p>
        </p:txBody>
      </p:sp>
      <p:sp>
        <p:nvSpPr>
          <p:cNvPr id="15" name="TextBox 14"/>
          <p:cNvSpPr txBox="1"/>
          <p:nvPr/>
        </p:nvSpPr>
        <p:spPr>
          <a:xfrm>
            <a:off x="2537460" y="192024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400K tokens</a:t>
            </a:r>
          </a:p>
        </p:txBody>
      </p:sp>
      <p:sp>
        <p:nvSpPr>
          <p:cNvPr id="16" name="TextBox 15"/>
          <p:cNvSpPr txBox="1"/>
          <p:nvPr/>
        </p:nvSpPr>
        <p:spPr>
          <a:xfrm>
            <a:off x="4617720" y="192024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~300K palabras</a:t>
            </a:r>
          </a:p>
        </p:txBody>
      </p:sp>
      <p:sp>
        <p:nvSpPr>
          <p:cNvPr id="17" name="TextBox 16"/>
          <p:cNvSpPr txBox="1"/>
          <p:nvPr/>
        </p:nvSpPr>
        <p:spPr>
          <a:xfrm>
            <a:off x="6697980" y="192024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Frontera OpenAI</a:t>
            </a:r>
          </a:p>
        </p:txBody>
      </p:sp>
      <p:sp>
        <p:nvSpPr>
          <p:cNvPr id="18" name="Rectangle 17"/>
          <p:cNvSpPr/>
          <p:nvPr/>
        </p:nvSpPr>
        <p:spPr>
          <a:xfrm>
            <a:off x="411480" y="2331720"/>
            <a:ext cx="8321040" cy="411480"/>
          </a:xfrm>
          <a:prstGeom prst="rect">
            <a:avLst/>
          </a:prstGeom>
          <a:solidFill>
            <a:srgbClr val="F0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2331720"/>
            <a:ext cx="2080260" cy="411480"/>
          </a:xfrm>
          <a:prstGeom prst="rect">
            <a:avLst/>
          </a:prstGeom>
          <a:noFill/>
        </p:spPr>
        <p:txBody>
          <a:bodyPr wrap="square" lIns="25400" rIns="25400" tIns="25400" bIns="25400" anchor="ctr">
            <a:spAutoFit/>
          </a:bodyPr>
          <a:lstStyle/>
          <a:p>
            <a:pPr algn="l"/>
            <a:r>
              <a:rPr sz="1100" b="1" i="0">
                <a:solidFill>
                  <a:srgbClr val="1D1D30"/>
                </a:solidFill>
                <a:latin typeface="Calibri"/>
              </a:rPr>
              <a:t>Claude Opus 4.6</a:t>
            </a:r>
          </a:p>
        </p:txBody>
      </p:sp>
      <p:sp>
        <p:nvSpPr>
          <p:cNvPr id="20" name="TextBox 19"/>
          <p:cNvSpPr txBox="1"/>
          <p:nvPr/>
        </p:nvSpPr>
        <p:spPr>
          <a:xfrm>
            <a:off x="2537460" y="233172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1M tokens</a:t>
            </a:r>
          </a:p>
        </p:txBody>
      </p:sp>
      <p:sp>
        <p:nvSpPr>
          <p:cNvPr id="21" name="TextBox 20"/>
          <p:cNvSpPr txBox="1"/>
          <p:nvPr/>
        </p:nvSpPr>
        <p:spPr>
          <a:xfrm>
            <a:off x="4617720" y="233172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~750K palabras</a:t>
            </a:r>
          </a:p>
        </p:txBody>
      </p:sp>
      <p:sp>
        <p:nvSpPr>
          <p:cNvPr id="22" name="TextBox 21"/>
          <p:cNvSpPr txBox="1"/>
          <p:nvPr/>
        </p:nvSpPr>
        <p:spPr>
          <a:xfrm>
            <a:off x="6697980" y="233172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Anthropic, máximo</a:t>
            </a:r>
          </a:p>
        </p:txBody>
      </p:sp>
      <p:sp>
        <p:nvSpPr>
          <p:cNvPr id="23" name="Rectangle 22"/>
          <p:cNvSpPr/>
          <p:nvPr/>
        </p:nvSpPr>
        <p:spPr>
          <a:xfrm>
            <a:off x="411480" y="2743200"/>
            <a:ext cx="83210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2743200"/>
            <a:ext cx="2080260" cy="411480"/>
          </a:xfrm>
          <a:prstGeom prst="rect">
            <a:avLst/>
          </a:prstGeom>
          <a:noFill/>
        </p:spPr>
        <p:txBody>
          <a:bodyPr wrap="square" lIns="25400" rIns="25400" tIns="25400" bIns="25400" anchor="ctr">
            <a:spAutoFit/>
          </a:bodyPr>
          <a:lstStyle/>
          <a:p>
            <a:pPr algn="l"/>
            <a:r>
              <a:rPr sz="1100" b="1" i="0">
                <a:solidFill>
                  <a:srgbClr val="1D1D30"/>
                </a:solidFill>
                <a:latin typeface="Calibri"/>
              </a:rPr>
              <a:t>Gemini 3.1 Pro</a:t>
            </a:r>
          </a:p>
        </p:txBody>
      </p:sp>
      <p:sp>
        <p:nvSpPr>
          <p:cNvPr id="25" name="TextBox 24"/>
          <p:cNvSpPr txBox="1"/>
          <p:nvPr/>
        </p:nvSpPr>
        <p:spPr>
          <a:xfrm>
            <a:off x="2537460" y="274320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1M tokens</a:t>
            </a:r>
          </a:p>
        </p:txBody>
      </p:sp>
      <p:sp>
        <p:nvSpPr>
          <p:cNvPr id="26" name="TextBox 25"/>
          <p:cNvSpPr txBox="1"/>
          <p:nvPr/>
        </p:nvSpPr>
        <p:spPr>
          <a:xfrm>
            <a:off x="4617720" y="274320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~750K palabras</a:t>
            </a:r>
          </a:p>
        </p:txBody>
      </p:sp>
      <p:sp>
        <p:nvSpPr>
          <p:cNvPr id="27" name="TextBox 26"/>
          <p:cNvSpPr txBox="1"/>
          <p:nvPr/>
        </p:nvSpPr>
        <p:spPr>
          <a:xfrm>
            <a:off x="6697980" y="274320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Multimodal nativo</a:t>
            </a:r>
          </a:p>
        </p:txBody>
      </p:sp>
      <p:sp>
        <p:nvSpPr>
          <p:cNvPr id="28" name="Rectangle 27"/>
          <p:cNvSpPr/>
          <p:nvPr/>
        </p:nvSpPr>
        <p:spPr>
          <a:xfrm>
            <a:off x="411480" y="3154680"/>
            <a:ext cx="8321040" cy="411480"/>
          </a:xfrm>
          <a:prstGeom prst="rect">
            <a:avLst/>
          </a:prstGeom>
          <a:solidFill>
            <a:srgbClr val="F0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3154680"/>
            <a:ext cx="2080260" cy="411480"/>
          </a:xfrm>
          <a:prstGeom prst="rect">
            <a:avLst/>
          </a:prstGeom>
          <a:noFill/>
        </p:spPr>
        <p:txBody>
          <a:bodyPr wrap="square" lIns="25400" rIns="25400" tIns="25400" bIns="25400" anchor="ctr">
            <a:spAutoFit/>
          </a:bodyPr>
          <a:lstStyle/>
          <a:p>
            <a:pPr algn="l"/>
            <a:r>
              <a:rPr sz="1100" b="1" i="0">
                <a:solidFill>
                  <a:srgbClr val="1D1D30"/>
                </a:solidFill>
                <a:latin typeface="Calibri"/>
              </a:rPr>
              <a:t>Llama 4 Scout</a:t>
            </a:r>
          </a:p>
        </p:txBody>
      </p:sp>
      <p:sp>
        <p:nvSpPr>
          <p:cNvPr id="30" name="TextBox 29"/>
          <p:cNvSpPr txBox="1"/>
          <p:nvPr/>
        </p:nvSpPr>
        <p:spPr>
          <a:xfrm>
            <a:off x="2537460" y="315468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10M tokens</a:t>
            </a:r>
          </a:p>
        </p:txBody>
      </p:sp>
      <p:sp>
        <p:nvSpPr>
          <p:cNvPr id="31" name="TextBox 30"/>
          <p:cNvSpPr txBox="1"/>
          <p:nvPr/>
        </p:nvSpPr>
        <p:spPr>
          <a:xfrm>
            <a:off x="4617720" y="315468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~7,5M palabras</a:t>
            </a:r>
          </a:p>
        </p:txBody>
      </p:sp>
      <p:sp>
        <p:nvSpPr>
          <p:cNvPr id="32" name="TextBox 31"/>
          <p:cNvSpPr txBox="1"/>
          <p:nvPr/>
        </p:nvSpPr>
        <p:spPr>
          <a:xfrm>
            <a:off x="6697980" y="315468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Open-weight, récord</a:t>
            </a:r>
          </a:p>
        </p:txBody>
      </p:sp>
      <p:sp>
        <p:nvSpPr>
          <p:cNvPr id="33" name="Rectangle 32"/>
          <p:cNvSpPr/>
          <p:nvPr/>
        </p:nvSpPr>
        <p:spPr>
          <a:xfrm>
            <a:off x="411480" y="3566160"/>
            <a:ext cx="83210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566160"/>
            <a:ext cx="2080260" cy="411480"/>
          </a:xfrm>
          <a:prstGeom prst="rect">
            <a:avLst/>
          </a:prstGeom>
          <a:noFill/>
        </p:spPr>
        <p:txBody>
          <a:bodyPr wrap="square" lIns="25400" rIns="25400" tIns="25400" bIns="25400" anchor="ctr">
            <a:spAutoFit/>
          </a:bodyPr>
          <a:lstStyle/>
          <a:p>
            <a:pPr algn="l"/>
            <a:r>
              <a:rPr sz="1100" b="1" i="0">
                <a:solidFill>
                  <a:srgbClr val="1D1D30"/>
                </a:solidFill>
                <a:latin typeface="Calibri"/>
              </a:rPr>
              <a:t>Modelo local 7B</a:t>
            </a:r>
          </a:p>
        </p:txBody>
      </p:sp>
      <p:sp>
        <p:nvSpPr>
          <p:cNvPr id="35" name="TextBox 34"/>
          <p:cNvSpPr txBox="1"/>
          <p:nvPr/>
        </p:nvSpPr>
        <p:spPr>
          <a:xfrm>
            <a:off x="2537460" y="356616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8K-128K</a:t>
            </a:r>
          </a:p>
        </p:txBody>
      </p:sp>
      <p:sp>
        <p:nvSpPr>
          <p:cNvPr id="36" name="TextBox 35"/>
          <p:cNvSpPr txBox="1"/>
          <p:nvPr/>
        </p:nvSpPr>
        <p:spPr>
          <a:xfrm>
            <a:off x="4617720" y="356616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1 capítulo o más</a:t>
            </a:r>
          </a:p>
        </p:txBody>
      </p:sp>
      <p:sp>
        <p:nvSpPr>
          <p:cNvPr id="37" name="TextBox 36"/>
          <p:cNvSpPr txBox="1"/>
          <p:nvPr/>
        </p:nvSpPr>
        <p:spPr>
          <a:xfrm>
            <a:off x="6697980" y="356616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En tu portátil</a:t>
            </a:r>
          </a:p>
        </p:txBody>
      </p:sp>
      <p:sp>
        <p:nvSpPr>
          <p:cNvPr id="38" name="Rectangle 37"/>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000" b="1" i="0">
                <a:solidFill>
                  <a:srgbClr val="1D1D30"/>
                </a:solidFill>
                <a:latin typeface="Calibri"/>
              </a:rPr>
              <a:t>El problema de la ventana grande</a:t>
            </a:r>
          </a:p>
        </p:txBody>
      </p:sp>
      <p:sp>
        <p:nvSpPr>
          <p:cNvPr id="8" name="Rectangle 7"/>
          <p:cNvSpPr/>
          <p:nvPr/>
        </p:nvSpPr>
        <p:spPr>
          <a:xfrm>
            <a:off x="640080" y="1554480"/>
            <a:ext cx="7863840" cy="14630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54480"/>
            <a:ext cx="7498079" cy="1463040"/>
          </a:xfrm>
          <a:prstGeom prst="rect">
            <a:avLst/>
          </a:prstGeom>
          <a:noFill/>
        </p:spPr>
        <p:txBody>
          <a:bodyPr wrap="square" lIns="25400" rIns="25400" tIns="25400" bIns="25400" anchor="ctr">
            <a:spAutoFit/>
          </a:bodyPr>
          <a:lstStyle/>
          <a:p>
            <a:pPr algn="ctr">
              <a:lnSpc>
                <a:spcPct val="120000"/>
              </a:lnSpc>
            </a:pPr>
            <a:r>
              <a:rPr sz="2400" b="1" i="0">
                <a:solidFill>
                  <a:srgbClr val="FFFFFF"/>
                </a:solidFill>
                <a:latin typeface="Calibri"/>
              </a:rPr>
              <a:t>Tener 1M de contexto NO significa</a:t>
            </a:r>
          </a:p>
          <a:p>
            <a:pPr algn="ctr">
              <a:lnSpc>
                <a:spcPct val="120000"/>
              </a:lnSpc>
            </a:pPr>
            <a:r>
              <a:rPr sz="2400" b="1" i="0">
                <a:solidFill>
                  <a:srgbClr val="FFFFFF"/>
                </a:solidFill>
                <a:latin typeface="Calibri"/>
              </a:rPr>
              <a:t>que el modelo lea bien el medio.</a:t>
            </a:r>
          </a:p>
        </p:txBody>
      </p:sp>
      <p:sp>
        <p:nvSpPr>
          <p:cNvPr id="10" name="TextBox 9"/>
          <p:cNvSpPr txBox="1"/>
          <p:nvPr/>
        </p:nvSpPr>
        <p:spPr>
          <a:xfrm>
            <a:off x="640080" y="3383280"/>
            <a:ext cx="7863840" cy="1371600"/>
          </a:xfrm>
          <a:prstGeom prst="rect">
            <a:avLst/>
          </a:prstGeom>
          <a:noFill/>
        </p:spPr>
        <p:txBody>
          <a:bodyPr wrap="square" lIns="25400" rIns="25400" tIns="25400" bIns="25400" anchor="t">
            <a:spAutoFit/>
          </a:bodyPr>
          <a:lstStyle/>
          <a:p>
            <a:pPr algn="l">
              <a:lnSpc>
                <a:spcPct val="130000"/>
              </a:lnSpc>
            </a:pPr>
            <a:r>
              <a:rPr sz="1600" b="1" i="0">
                <a:solidFill>
                  <a:srgbClr val="FF743B"/>
                </a:solidFill>
                <a:latin typeface="Calibri"/>
              </a:rPr>
              <a:t>● </a:t>
            </a:r>
            <a:r>
              <a:rPr sz="1600" b="0" i="0">
                <a:solidFill>
                  <a:srgbClr val="1D1D30"/>
                </a:solidFill>
                <a:latin typeface="Calibri"/>
              </a:rPr>
              <a:t>Recuerda mejor el principio y el final del prompt</a:t>
            </a:r>
          </a:p>
          <a:p>
            <a:pPr algn="l">
              <a:lnSpc>
                <a:spcPct val="130000"/>
              </a:lnSpc>
            </a:pPr>
            <a:r>
              <a:rPr sz="1600" b="1" i="0">
                <a:solidFill>
                  <a:srgbClr val="FF743B"/>
                </a:solidFill>
                <a:latin typeface="Calibri"/>
              </a:rPr>
              <a:t>● </a:t>
            </a:r>
            <a:r>
              <a:rPr sz="1600" b="0" i="0">
                <a:solidFill>
                  <a:srgbClr val="1D1D30"/>
                </a:solidFill>
                <a:latin typeface="Calibri"/>
              </a:rPr>
              <a:t>El centro («murky middle») se difumina</a:t>
            </a:r>
          </a:p>
          <a:p>
            <a:pPr algn="l">
              <a:lnSpc>
                <a:spcPct val="130000"/>
              </a:lnSpc>
            </a:pPr>
            <a:r>
              <a:rPr sz="1600" b="1" i="0">
                <a:solidFill>
                  <a:srgbClr val="FF743B"/>
                </a:solidFill>
                <a:latin typeface="Calibri"/>
              </a:rPr>
              <a:t>● </a:t>
            </a:r>
            <a:r>
              <a:rPr sz="1600" b="0" i="0">
                <a:solidFill>
                  <a:srgbClr val="1D1D30"/>
                </a:solidFill>
                <a:latin typeface="Calibri"/>
              </a:rPr>
              <a:t>Solución: poner lo importante al principio o al final</a:t>
            </a:r>
          </a:p>
          <a:p>
            <a:pPr algn="l">
              <a:lnSpc>
                <a:spcPct val="130000"/>
              </a:lnSpc>
            </a:pPr>
            <a:r>
              <a:rPr sz="1600" b="1" i="0">
                <a:solidFill>
                  <a:srgbClr val="FF743B"/>
                </a:solidFill>
                <a:latin typeface="Calibri"/>
              </a:rPr>
              <a:t>● </a:t>
            </a:r>
            <a:r>
              <a:rPr sz="1600" b="0" i="0">
                <a:solidFill>
                  <a:srgbClr val="1D1D30"/>
                </a:solidFill>
                <a:latin typeface="Calibri"/>
              </a:rPr>
              <a:t>Y resumir antes de meter documentos largos</a:t>
            </a:r>
          </a:p>
        </p:txBody>
      </p:sp>
      <p:sp>
        <p:nvSpPr>
          <p:cNvPr id="11" name="Rectangle 10"/>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200" b="1" i="0">
                <a:solidFill>
                  <a:srgbClr val="1D1D30"/>
                </a:solidFill>
                <a:latin typeface="Calibri"/>
              </a:rPr>
              <a:t>Limitaciones que tenéis que asumir</a:t>
            </a:r>
          </a:p>
        </p:txBody>
      </p:sp>
      <p:sp>
        <p:nvSpPr>
          <p:cNvPr id="8" name="TextBox 7"/>
          <p:cNvSpPr txBox="1"/>
          <p:nvPr/>
        </p:nvSpPr>
        <p:spPr>
          <a:xfrm>
            <a:off x="411480" y="1417320"/>
            <a:ext cx="8229600" cy="3383280"/>
          </a:xfrm>
          <a:prstGeom prst="rect">
            <a:avLst/>
          </a:prstGeom>
          <a:noFill/>
        </p:spPr>
        <p:txBody>
          <a:bodyPr wrap="square" lIns="25400" rIns="25400" tIns="25400" bIns="25400" anchor="t">
            <a:spAutoFit/>
          </a:bodyPr>
          <a:lstStyle/>
          <a:p>
            <a:pPr algn="l">
              <a:lnSpc>
                <a:spcPct val="135000"/>
              </a:lnSpc>
            </a:pPr>
            <a:r>
              <a:rPr sz="1700" b="1" i="0">
                <a:solidFill>
                  <a:srgbClr val="FF743B"/>
                </a:solidFill>
                <a:latin typeface="Calibri"/>
              </a:rPr>
              <a:t>● </a:t>
            </a:r>
            <a:r>
              <a:rPr sz="1700" b="1" i="0">
                <a:solidFill>
                  <a:srgbClr val="1D1D30"/>
                </a:solidFill>
                <a:latin typeface="Calibri"/>
              </a:rPr>
              <a:t>Cutoff de conocimiento</a:t>
            </a:r>
            <a:r>
              <a:rPr sz="1700" b="0" i="0">
                <a:solidFill>
                  <a:srgbClr val="1D1D30"/>
                </a:solidFill>
                <a:latin typeface="Calibri"/>
              </a:rPr>
              <a:t>: no sabe lo que pasó después de su entrenamiento</a:t>
            </a:r>
          </a:p>
          <a:p>
            <a:pPr algn="l">
              <a:lnSpc>
                <a:spcPct val="135000"/>
              </a:lnSpc>
            </a:pPr>
            <a:r>
              <a:rPr sz="1700" b="1" i="0">
                <a:solidFill>
                  <a:srgbClr val="FF743B"/>
                </a:solidFill>
                <a:latin typeface="Calibri"/>
              </a:rPr>
              <a:t>● </a:t>
            </a:r>
            <a:r>
              <a:rPr sz="1700" b="1" i="0">
                <a:solidFill>
                  <a:srgbClr val="1D1D30"/>
                </a:solidFill>
                <a:latin typeface="Calibri"/>
              </a:rPr>
              <a:t>Alucinaciones</a:t>
            </a:r>
            <a:r>
              <a:rPr sz="1700" b="0" i="0">
                <a:solidFill>
                  <a:srgbClr val="1D1D30"/>
                </a:solidFill>
                <a:latin typeface="Calibri"/>
              </a:rPr>
              <a:t>: se inventa datos cuando no sabe, con seguridad</a:t>
            </a:r>
          </a:p>
          <a:p>
            <a:pPr algn="l">
              <a:lnSpc>
                <a:spcPct val="135000"/>
              </a:lnSpc>
            </a:pPr>
            <a:r>
              <a:rPr sz="1700" b="1" i="0">
                <a:solidFill>
                  <a:srgbClr val="FF743B"/>
                </a:solidFill>
                <a:latin typeface="Calibri"/>
              </a:rPr>
              <a:t>● </a:t>
            </a:r>
            <a:r>
              <a:rPr sz="1700" b="1" i="0">
                <a:solidFill>
                  <a:srgbClr val="1D1D30"/>
                </a:solidFill>
                <a:latin typeface="Calibri"/>
              </a:rPr>
              <a:t>Sesgos</a:t>
            </a:r>
            <a:r>
              <a:rPr sz="1700" b="0" i="0">
                <a:solidFill>
                  <a:srgbClr val="1D1D30"/>
                </a:solidFill>
                <a:latin typeface="Calibri"/>
              </a:rPr>
              <a:t>: reproduce los sesgos de sus datos de entrenamiento</a:t>
            </a:r>
          </a:p>
          <a:p>
            <a:pPr algn="l">
              <a:lnSpc>
                <a:spcPct val="135000"/>
              </a:lnSpc>
            </a:pPr>
            <a:r>
              <a:rPr sz="1700" b="1" i="0">
                <a:solidFill>
                  <a:srgbClr val="FF743B"/>
                </a:solidFill>
                <a:latin typeface="Calibri"/>
              </a:rPr>
              <a:t>● </a:t>
            </a:r>
            <a:r>
              <a:rPr sz="1700" b="1" i="0">
                <a:solidFill>
                  <a:srgbClr val="1D1D30"/>
                </a:solidFill>
                <a:latin typeface="Calibri"/>
              </a:rPr>
              <a:t>Sin verdadera comprensión</a:t>
            </a:r>
            <a:r>
              <a:rPr sz="1700" b="0" i="0">
                <a:solidFill>
                  <a:srgbClr val="1D1D30"/>
                </a:solidFill>
                <a:latin typeface="Calibri"/>
              </a:rPr>
              <a:t>: no «entiende», correlaciona patrones</a:t>
            </a:r>
          </a:p>
          <a:p>
            <a:pPr algn="l">
              <a:lnSpc>
                <a:spcPct val="135000"/>
              </a:lnSpc>
            </a:pPr>
            <a:r>
              <a:rPr sz="1700" b="1" i="0">
                <a:solidFill>
                  <a:srgbClr val="FF743B"/>
                </a:solidFill>
                <a:latin typeface="Calibri"/>
              </a:rPr>
              <a:t>● </a:t>
            </a:r>
            <a:r>
              <a:rPr sz="1700" b="1" i="0">
                <a:solidFill>
                  <a:srgbClr val="1D1D30"/>
                </a:solidFill>
                <a:latin typeface="Calibri"/>
              </a:rPr>
              <a:t>Coste por token</a:t>
            </a:r>
            <a:r>
              <a:rPr sz="1700" b="0" i="0">
                <a:solidFill>
                  <a:srgbClr val="1D1D30"/>
                </a:solidFill>
                <a:latin typeface="Calibri"/>
              </a:rPr>
              <a:t>: input y output cuestan dinero o cuota</a:t>
            </a:r>
          </a:p>
          <a:p>
            <a:pPr algn="l">
              <a:lnSpc>
                <a:spcPct val="135000"/>
              </a:lnSpc>
            </a:pPr>
            <a:r>
              <a:rPr sz="1700" b="1" i="0">
                <a:solidFill>
                  <a:srgbClr val="FF743B"/>
                </a:solidFill>
                <a:latin typeface="Calibri"/>
              </a:rPr>
              <a:t>● </a:t>
            </a:r>
            <a:r>
              <a:rPr sz="1700" b="1" i="0">
                <a:solidFill>
                  <a:srgbClr val="1D1D30"/>
                </a:solidFill>
                <a:latin typeface="Calibri"/>
              </a:rPr>
              <a:t>Latencia</a:t>
            </a:r>
            <a:r>
              <a:rPr sz="1700" b="0" i="0">
                <a:solidFill>
                  <a:srgbClr val="1D1D30"/>
                </a:solidFill>
                <a:latin typeface="Calibri"/>
              </a:rPr>
              <a:t>: los modelos grandes son lentos; los razonadores aún más</a:t>
            </a:r>
          </a:p>
        </p:txBody>
      </p:sp>
      <p:sp>
        <p:nvSpPr>
          <p:cNvPr id="9" name="Rectangle 8"/>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571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143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14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857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429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00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72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143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715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286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429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001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72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144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715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39496" y="502920"/>
            <a:ext cx="3776472" cy="777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9496" y="1417320"/>
            <a:ext cx="6400800" cy="365760"/>
          </a:xfrm>
          <a:prstGeom prst="rect">
            <a:avLst/>
          </a:prstGeom>
          <a:noFill/>
        </p:spPr>
        <p:txBody>
          <a:bodyPr wrap="square" lIns="25400" rIns="25400" tIns="25400" bIns="25400" anchor="t">
            <a:spAutoFit/>
          </a:bodyPr>
          <a:lstStyle/>
          <a:p>
            <a:pPr algn="l"/>
            <a:r>
              <a:rPr sz="1400" b="0" i="0">
                <a:solidFill>
                  <a:srgbClr val="F0F46A"/>
                </a:solidFill>
                <a:latin typeface="Calibri"/>
              </a:rPr>
              <a:t>BLOQUE 3</a:t>
            </a:r>
          </a:p>
        </p:txBody>
      </p:sp>
      <p:sp>
        <p:nvSpPr>
          <p:cNvPr id="22" name="TextBox 21"/>
          <p:cNvSpPr txBox="1"/>
          <p:nvPr/>
        </p:nvSpPr>
        <p:spPr>
          <a:xfrm>
            <a:off x="539496" y="1920240"/>
            <a:ext cx="8229600" cy="2377440"/>
          </a:xfrm>
          <a:prstGeom prst="rect">
            <a:avLst/>
          </a:prstGeom>
          <a:noFill/>
        </p:spPr>
        <p:txBody>
          <a:bodyPr wrap="square" lIns="25400" rIns="25400" tIns="25400" bIns="25400" anchor="t">
            <a:spAutoFit/>
          </a:bodyPr>
          <a:lstStyle/>
          <a:p>
            <a:pPr algn="l">
              <a:lnSpc>
                <a:spcPct val="105000"/>
              </a:lnSpc>
            </a:pPr>
            <a:r>
              <a:rPr sz="4200" b="1" i="0">
                <a:solidFill>
                  <a:srgbClr val="FFFFFF"/>
                </a:solidFill>
                <a:latin typeface="Calibri"/>
              </a:rPr>
              <a:t>Closed vs Open</a:t>
            </a:r>
          </a:p>
          <a:p>
            <a:pPr algn="l">
              <a:lnSpc>
                <a:spcPct val="105000"/>
              </a:lnSpc>
            </a:pPr>
            <a:r>
              <a:rPr sz="4200" b="1" i="0">
                <a:solidFill>
                  <a:srgbClr val="FFFFFF"/>
                </a:solidFill>
                <a:latin typeface="Calibri"/>
              </a:rPr>
              <a:t>Cómo elegir</a:t>
            </a:r>
          </a:p>
        </p:txBody>
      </p:sp>
      <p:sp>
        <p:nvSpPr>
          <p:cNvPr id="23" name="Rectangle 2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25" name="Rectangle 2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27" name="TextBox 26"/>
          <p:cNvSpPr txBox="1"/>
          <p:nvPr/>
        </p:nvSpPr>
        <p:spPr>
          <a:xfrm>
            <a:off x="8503920" y="4846320"/>
            <a:ext cx="457200" cy="228600"/>
          </a:xfrm>
          <a:prstGeom prst="rect">
            <a:avLst/>
          </a:prstGeom>
          <a:noFill/>
        </p:spPr>
        <p:txBody>
          <a:bodyPr wrap="square" lIns="25400" rIns="25400" tIns="25400" bIns="25400" anchor="t">
            <a:spAutoFit/>
          </a:bodyPr>
          <a:lstStyle/>
          <a:p>
            <a:pPr algn="r"/>
            <a:r>
              <a:rPr sz="1000" b="0" i="0">
                <a:solidFill>
                  <a:srgbClr val="FFFFFF"/>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2800" b="1" i="0">
                <a:solidFill>
                  <a:srgbClr val="1D1D30"/>
                </a:solidFill>
                <a:latin typeface="Calibri"/>
              </a:rPr>
              <a:t>El panorama de modelos · mayo 2026</a:t>
            </a:r>
          </a:p>
        </p:txBody>
      </p:sp>
      <p:sp>
        <p:nvSpPr>
          <p:cNvPr id="8" name="Rectangle 7"/>
          <p:cNvSpPr/>
          <p:nvPr/>
        </p:nvSpPr>
        <p:spPr>
          <a:xfrm>
            <a:off x="411480" y="1463040"/>
            <a:ext cx="8321040" cy="45720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463040"/>
            <a:ext cx="2080260" cy="457200"/>
          </a:xfrm>
          <a:prstGeom prst="rect">
            <a:avLst/>
          </a:prstGeom>
          <a:noFill/>
        </p:spPr>
        <p:txBody>
          <a:bodyPr wrap="square" lIns="25400" rIns="25400" tIns="25400" bIns="25400" anchor="ctr">
            <a:spAutoFit/>
          </a:bodyPr>
          <a:lstStyle/>
          <a:p>
            <a:pPr algn="ctr"/>
            <a:r>
              <a:rPr sz="1400" b="1" i="0">
                <a:solidFill>
                  <a:srgbClr val="FFFFFF"/>
                </a:solidFill>
                <a:latin typeface="Calibri"/>
              </a:rPr>
              <a:t>Familia</a:t>
            </a:r>
          </a:p>
        </p:txBody>
      </p:sp>
      <p:sp>
        <p:nvSpPr>
          <p:cNvPr id="10" name="TextBox 9"/>
          <p:cNvSpPr txBox="1"/>
          <p:nvPr/>
        </p:nvSpPr>
        <p:spPr>
          <a:xfrm>
            <a:off x="2491740" y="1463040"/>
            <a:ext cx="2080260" cy="457200"/>
          </a:xfrm>
          <a:prstGeom prst="rect">
            <a:avLst/>
          </a:prstGeom>
          <a:noFill/>
        </p:spPr>
        <p:txBody>
          <a:bodyPr wrap="square" lIns="25400" rIns="25400" tIns="25400" bIns="25400" anchor="ctr">
            <a:spAutoFit/>
          </a:bodyPr>
          <a:lstStyle/>
          <a:p>
            <a:pPr algn="ctr"/>
            <a:r>
              <a:rPr sz="1400" b="1" i="0">
                <a:solidFill>
                  <a:srgbClr val="FFFFFF"/>
                </a:solidFill>
                <a:latin typeface="Calibri"/>
              </a:rPr>
              <a:t>Top</a:t>
            </a:r>
          </a:p>
        </p:txBody>
      </p:sp>
      <p:sp>
        <p:nvSpPr>
          <p:cNvPr id="11" name="TextBox 10"/>
          <p:cNvSpPr txBox="1"/>
          <p:nvPr/>
        </p:nvSpPr>
        <p:spPr>
          <a:xfrm>
            <a:off x="4572000" y="1463040"/>
            <a:ext cx="2080260" cy="457200"/>
          </a:xfrm>
          <a:prstGeom prst="rect">
            <a:avLst/>
          </a:prstGeom>
          <a:noFill/>
        </p:spPr>
        <p:txBody>
          <a:bodyPr wrap="square" lIns="25400" rIns="25400" tIns="25400" bIns="25400" anchor="ctr">
            <a:spAutoFit/>
          </a:bodyPr>
          <a:lstStyle/>
          <a:p>
            <a:pPr algn="ctr"/>
            <a:r>
              <a:rPr sz="1400" b="1" i="0">
                <a:solidFill>
                  <a:srgbClr val="FFFFFF"/>
                </a:solidFill>
                <a:latin typeface="Calibri"/>
              </a:rPr>
              <a:t>Coste relativo</a:t>
            </a:r>
          </a:p>
        </p:txBody>
      </p:sp>
      <p:sp>
        <p:nvSpPr>
          <p:cNvPr id="12" name="TextBox 11"/>
          <p:cNvSpPr txBox="1"/>
          <p:nvPr/>
        </p:nvSpPr>
        <p:spPr>
          <a:xfrm>
            <a:off x="6652260" y="1463040"/>
            <a:ext cx="2080260" cy="457200"/>
          </a:xfrm>
          <a:prstGeom prst="rect">
            <a:avLst/>
          </a:prstGeom>
          <a:noFill/>
        </p:spPr>
        <p:txBody>
          <a:bodyPr wrap="square" lIns="25400" rIns="25400" tIns="25400" bIns="25400" anchor="ctr">
            <a:spAutoFit/>
          </a:bodyPr>
          <a:lstStyle/>
          <a:p>
            <a:pPr algn="ctr"/>
            <a:r>
              <a:rPr sz="1400" b="1" i="0">
                <a:solidFill>
                  <a:srgbClr val="FFFFFF"/>
                </a:solidFill>
                <a:latin typeface="Calibri"/>
              </a:rPr>
              <a:t>Cuándo usar</a:t>
            </a:r>
          </a:p>
        </p:txBody>
      </p:sp>
      <p:sp>
        <p:nvSpPr>
          <p:cNvPr id="13" name="Rectangle 12"/>
          <p:cNvSpPr/>
          <p:nvPr/>
        </p:nvSpPr>
        <p:spPr>
          <a:xfrm>
            <a:off x="411480" y="1920240"/>
            <a:ext cx="83210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920240"/>
            <a:ext cx="2080260" cy="411480"/>
          </a:xfrm>
          <a:prstGeom prst="rect">
            <a:avLst/>
          </a:prstGeom>
          <a:noFill/>
        </p:spPr>
        <p:txBody>
          <a:bodyPr wrap="square" lIns="25400" rIns="25400" tIns="25400" bIns="25400" anchor="ctr">
            <a:spAutoFit/>
          </a:bodyPr>
          <a:lstStyle/>
          <a:p>
            <a:pPr algn="l"/>
            <a:r>
              <a:rPr sz="1100" b="1" i="0">
                <a:solidFill>
                  <a:srgbClr val="1D1D30"/>
                </a:solidFill>
                <a:latin typeface="Calibri"/>
              </a:rPr>
              <a:t>Closed frontera</a:t>
            </a:r>
          </a:p>
        </p:txBody>
      </p:sp>
      <p:sp>
        <p:nvSpPr>
          <p:cNvPr id="15" name="TextBox 14"/>
          <p:cNvSpPr txBox="1"/>
          <p:nvPr/>
        </p:nvSpPr>
        <p:spPr>
          <a:xfrm>
            <a:off x="2537460" y="192024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GPT-5.2, Opus 4.6, Gemini 3.1</a:t>
            </a:r>
          </a:p>
        </p:txBody>
      </p:sp>
      <p:sp>
        <p:nvSpPr>
          <p:cNvPr id="16" name="TextBox 15"/>
          <p:cNvSpPr txBox="1"/>
          <p:nvPr/>
        </p:nvSpPr>
        <p:spPr>
          <a:xfrm>
            <a:off x="4617720" y="192024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a:t>
            </a:r>
          </a:p>
        </p:txBody>
      </p:sp>
      <p:sp>
        <p:nvSpPr>
          <p:cNvPr id="17" name="TextBox 16"/>
          <p:cNvSpPr txBox="1"/>
          <p:nvPr/>
        </p:nvSpPr>
        <p:spPr>
          <a:xfrm>
            <a:off x="6697980" y="192024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Producción crítica</a:t>
            </a:r>
          </a:p>
        </p:txBody>
      </p:sp>
      <p:sp>
        <p:nvSpPr>
          <p:cNvPr id="18" name="Rectangle 17"/>
          <p:cNvSpPr/>
          <p:nvPr/>
        </p:nvSpPr>
        <p:spPr>
          <a:xfrm>
            <a:off x="411480" y="2331720"/>
            <a:ext cx="8321040" cy="411480"/>
          </a:xfrm>
          <a:prstGeom prst="rect">
            <a:avLst/>
          </a:prstGeom>
          <a:solidFill>
            <a:srgbClr val="F0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2331720"/>
            <a:ext cx="2080260" cy="411480"/>
          </a:xfrm>
          <a:prstGeom prst="rect">
            <a:avLst/>
          </a:prstGeom>
          <a:noFill/>
        </p:spPr>
        <p:txBody>
          <a:bodyPr wrap="square" lIns="25400" rIns="25400" tIns="25400" bIns="25400" anchor="ctr">
            <a:spAutoFit/>
          </a:bodyPr>
          <a:lstStyle/>
          <a:p>
            <a:pPr algn="l"/>
            <a:r>
              <a:rPr sz="1100" b="1" i="0">
                <a:solidFill>
                  <a:srgbClr val="1D1D30"/>
                </a:solidFill>
                <a:latin typeface="Calibri"/>
              </a:rPr>
              <a:t>Closed razonador</a:t>
            </a:r>
          </a:p>
        </p:txBody>
      </p:sp>
      <p:sp>
        <p:nvSpPr>
          <p:cNvPr id="20" name="TextBox 19"/>
          <p:cNvSpPr txBox="1"/>
          <p:nvPr/>
        </p:nvSpPr>
        <p:spPr>
          <a:xfrm>
            <a:off x="2537460" y="233172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o3, GPT-5 reasoning, thinking</a:t>
            </a:r>
          </a:p>
        </p:txBody>
      </p:sp>
      <p:sp>
        <p:nvSpPr>
          <p:cNvPr id="21" name="TextBox 20"/>
          <p:cNvSpPr txBox="1"/>
          <p:nvPr/>
        </p:nvSpPr>
        <p:spPr>
          <a:xfrm>
            <a:off x="4617720" y="233172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a:t>
            </a:r>
          </a:p>
        </p:txBody>
      </p:sp>
      <p:sp>
        <p:nvSpPr>
          <p:cNvPr id="22" name="TextBox 21"/>
          <p:cNvSpPr txBox="1"/>
          <p:nvPr/>
        </p:nvSpPr>
        <p:spPr>
          <a:xfrm>
            <a:off x="6697980" y="233172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Razonamiento duro</a:t>
            </a:r>
          </a:p>
        </p:txBody>
      </p:sp>
      <p:sp>
        <p:nvSpPr>
          <p:cNvPr id="23" name="Rectangle 22"/>
          <p:cNvSpPr/>
          <p:nvPr/>
        </p:nvSpPr>
        <p:spPr>
          <a:xfrm>
            <a:off x="411480" y="2743200"/>
            <a:ext cx="83210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2743200"/>
            <a:ext cx="2080260" cy="411480"/>
          </a:xfrm>
          <a:prstGeom prst="rect">
            <a:avLst/>
          </a:prstGeom>
          <a:noFill/>
        </p:spPr>
        <p:txBody>
          <a:bodyPr wrap="square" lIns="25400" rIns="25400" tIns="25400" bIns="25400" anchor="ctr">
            <a:spAutoFit/>
          </a:bodyPr>
          <a:lstStyle/>
          <a:p>
            <a:pPr algn="l"/>
            <a:r>
              <a:rPr sz="1100" b="1" i="0">
                <a:solidFill>
                  <a:srgbClr val="1D1D30"/>
                </a:solidFill>
                <a:latin typeface="Calibri"/>
              </a:rPr>
              <a:t>Closed barato</a:t>
            </a:r>
          </a:p>
        </p:txBody>
      </p:sp>
      <p:sp>
        <p:nvSpPr>
          <p:cNvPr id="25" name="TextBox 24"/>
          <p:cNvSpPr txBox="1"/>
          <p:nvPr/>
        </p:nvSpPr>
        <p:spPr>
          <a:xfrm>
            <a:off x="2537460" y="274320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GPT-5 mini, Haiku 4.5, Gemini Flash</a:t>
            </a:r>
          </a:p>
        </p:txBody>
      </p:sp>
      <p:sp>
        <p:nvSpPr>
          <p:cNvPr id="26" name="TextBox 25"/>
          <p:cNvSpPr txBox="1"/>
          <p:nvPr/>
        </p:nvSpPr>
        <p:spPr>
          <a:xfrm>
            <a:off x="4617720" y="274320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a:t>
            </a:r>
          </a:p>
        </p:txBody>
      </p:sp>
      <p:sp>
        <p:nvSpPr>
          <p:cNvPr id="27" name="TextBox 26"/>
          <p:cNvSpPr txBox="1"/>
          <p:nvPr/>
        </p:nvSpPr>
        <p:spPr>
          <a:xfrm>
            <a:off x="6697980" y="274320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Volumen, MVP</a:t>
            </a:r>
          </a:p>
        </p:txBody>
      </p:sp>
      <p:sp>
        <p:nvSpPr>
          <p:cNvPr id="28" name="Rectangle 27"/>
          <p:cNvSpPr/>
          <p:nvPr/>
        </p:nvSpPr>
        <p:spPr>
          <a:xfrm>
            <a:off x="411480" y="3154680"/>
            <a:ext cx="8321040" cy="411480"/>
          </a:xfrm>
          <a:prstGeom prst="rect">
            <a:avLst/>
          </a:prstGeom>
          <a:solidFill>
            <a:srgbClr val="F0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3154680"/>
            <a:ext cx="2080260" cy="411480"/>
          </a:xfrm>
          <a:prstGeom prst="rect">
            <a:avLst/>
          </a:prstGeom>
          <a:noFill/>
        </p:spPr>
        <p:txBody>
          <a:bodyPr wrap="square" lIns="25400" rIns="25400" tIns="25400" bIns="25400" anchor="ctr">
            <a:spAutoFit/>
          </a:bodyPr>
          <a:lstStyle/>
          <a:p>
            <a:pPr algn="l"/>
            <a:r>
              <a:rPr sz="1100" b="1" i="0">
                <a:solidFill>
                  <a:srgbClr val="1D1D30"/>
                </a:solidFill>
                <a:latin typeface="Calibri"/>
              </a:rPr>
              <a:t>Open-weight grande</a:t>
            </a:r>
          </a:p>
        </p:txBody>
      </p:sp>
      <p:sp>
        <p:nvSpPr>
          <p:cNvPr id="30" name="TextBox 29"/>
          <p:cNvSpPr txBox="1"/>
          <p:nvPr/>
        </p:nvSpPr>
        <p:spPr>
          <a:xfrm>
            <a:off x="2537460" y="315468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Llama 4, Qwen 3.5, DeepSeek V4</a:t>
            </a:r>
          </a:p>
        </p:txBody>
      </p:sp>
      <p:sp>
        <p:nvSpPr>
          <p:cNvPr id="31" name="TextBox 30"/>
          <p:cNvSpPr txBox="1"/>
          <p:nvPr/>
        </p:nvSpPr>
        <p:spPr>
          <a:xfrm>
            <a:off x="4617720" y="315468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 (cloud)</a:t>
            </a:r>
          </a:p>
        </p:txBody>
      </p:sp>
      <p:sp>
        <p:nvSpPr>
          <p:cNvPr id="32" name="TextBox 31"/>
          <p:cNvSpPr txBox="1"/>
          <p:nvPr/>
        </p:nvSpPr>
        <p:spPr>
          <a:xfrm>
            <a:off x="6697980" y="315468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Privacidad</a:t>
            </a:r>
          </a:p>
        </p:txBody>
      </p:sp>
      <p:sp>
        <p:nvSpPr>
          <p:cNvPr id="33" name="Rectangle 32"/>
          <p:cNvSpPr/>
          <p:nvPr/>
        </p:nvSpPr>
        <p:spPr>
          <a:xfrm>
            <a:off x="411480" y="3566160"/>
            <a:ext cx="83210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566160"/>
            <a:ext cx="2080260" cy="411480"/>
          </a:xfrm>
          <a:prstGeom prst="rect">
            <a:avLst/>
          </a:prstGeom>
          <a:noFill/>
        </p:spPr>
        <p:txBody>
          <a:bodyPr wrap="square" lIns="25400" rIns="25400" tIns="25400" bIns="25400" anchor="ctr">
            <a:spAutoFit/>
          </a:bodyPr>
          <a:lstStyle/>
          <a:p>
            <a:pPr algn="l"/>
            <a:r>
              <a:rPr sz="1100" b="1" i="0">
                <a:solidFill>
                  <a:srgbClr val="1D1D30"/>
                </a:solidFill>
                <a:latin typeface="Calibri"/>
              </a:rPr>
              <a:t>Open-weight local</a:t>
            </a:r>
          </a:p>
        </p:txBody>
      </p:sp>
      <p:sp>
        <p:nvSpPr>
          <p:cNvPr id="35" name="TextBox 34"/>
          <p:cNvSpPr txBox="1"/>
          <p:nvPr/>
        </p:nvSpPr>
        <p:spPr>
          <a:xfrm>
            <a:off x="2537460" y="356616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Llama 3.2 7B, Phi-4, Gemma 4</a:t>
            </a:r>
          </a:p>
        </p:txBody>
      </p:sp>
      <p:sp>
        <p:nvSpPr>
          <p:cNvPr id="36" name="TextBox 35"/>
          <p:cNvSpPr txBox="1"/>
          <p:nvPr/>
        </p:nvSpPr>
        <p:spPr>
          <a:xfrm>
            <a:off x="4617720" y="356616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0€ (tu máquina)</a:t>
            </a:r>
          </a:p>
        </p:txBody>
      </p:sp>
      <p:sp>
        <p:nvSpPr>
          <p:cNvPr id="37" name="TextBox 36"/>
          <p:cNvSpPr txBox="1"/>
          <p:nvPr/>
        </p:nvSpPr>
        <p:spPr>
          <a:xfrm>
            <a:off x="6697980" y="3566160"/>
            <a:ext cx="208026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Aprender, prototipar</a:t>
            </a:r>
          </a:p>
        </p:txBody>
      </p:sp>
      <p:sp>
        <p:nvSpPr>
          <p:cNvPr id="38" name="Rectangle 37"/>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000" b="1" i="0">
                <a:solidFill>
                  <a:srgbClr val="1D1D30"/>
                </a:solidFill>
                <a:latin typeface="Calibri"/>
              </a:rPr>
              <a:t>Open vs Closed: ventajas y trade-offs</a:t>
            </a:r>
          </a:p>
        </p:txBody>
      </p:sp>
      <p:sp>
        <p:nvSpPr>
          <p:cNvPr id="8" name="Rectangle 7"/>
          <p:cNvSpPr/>
          <p:nvPr/>
        </p:nvSpPr>
        <p:spPr>
          <a:xfrm>
            <a:off x="411480" y="1463040"/>
            <a:ext cx="4023360" cy="41148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463040"/>
            <a:ext cx="4023360" cy="411480"/>
          </a:xfrm>
          <a:prstGeom prst="rect">
            <a:avLst/>
          </a:prstGeom>
          <a:noFill/>
        </p:spPr>
        <p:txBody>
          <a:bodyPr wrap="square" lIns="25400" rIns="25400" tIns="25400" bIns="25400" anchor="ctr">
            <a:spAutoFit/>
          </a:bodyPr>
          <a:lstStyle/>
          <a:p>
            <a:pPr algn="ctr"/>
            <a:r>
              <a:rPr sz="1600" b="1" i="0">
                <a:solidFill>
                  <a:srgbClr val="FFFFFF"/>
                </a:solidFill>
                <a:latin typeface="Calibri"/>
              </a:rPr>
              <a:t>Open / Open-weight</a:t>
            </a:r>
          </a:p>
        </p:txBody>
      </p:sp>
      <p:sp>
        <p:nvSpPr>
          <p:cNvPr id="10" name="TextBox 9"/>
          <p:cNvSpPr txBox="1"/>
          <p:nvPr/>
        </p:nvSpPr>
        <p:spPr>
          <a:xfrm>
            <a:off x="502920" y="1965960"/>
            <a:ext cx="3931920" cy="2743200"/>
          </a:xfrm>
          <a:prstGeom prst="rect">
            <a:avLst/>
          </a:prstGeom>
          <a:noFill/>
        </p:spPr>
        <p:txBody>
          <a:bodyPr wrap="square" lIns="25400" rIns="25400" tIns="25400" bIns="25400" anchor="t">
            <a:spAutoFit/>
          </a:bodyPr>
          <a:lstStyle/>
          <a:p>
            <a:pPr algn="l">
              <a:lnSpc>
                <a:spcPct val="130000"/>
              </a:lnSpc>
            </a:pPr>
            <a:r>
              <a:rPr sz="1400" b="1" i="0">
                <a:solidFill>
                  <a:srgbClr val="FF743B"/>
                </a:solidFill>
                <a:latin typeface="Calibri"/>
              </a:rPr>
              <a:t>● </a:t>
            </a:r>
            <a:r>
              <a:rPr sz="1400" b="0" i="0">
                <a:solidFill>
                  <a:srgbClr val="1D1D30"/>
                </a:solidFill>
                <a:latin typeface="Calibri"/>
              </a:rPr>
              <a:t>Coste cero o muy bajo de inferencia</a:t>
            </a:r>
          </a:p>
          <a:p>
            <a:pPr algn="l">
              <a:lnSpc>
                <a:spcPct val="130000"/>
              </a:lnSpc>
            </a:pPr>
            <a:r>
              <a:rPr sz="1400" b="1" i="0">
                <a:solidFill>
                  <a:srgbClr val="FF743B"/>
                </a:solidFill>
                <a:latin typeface="Calibri"/>
              </a:rPr>
              <a:t>● </a:t>
            </a:r>
            <a:r>
              <a:rPr sz="1400" b="0" i="0">
                <a:solidFill>
                  <a:srgbClr val="1D1D30"/>
                </a:solidFill>
                <a:latin typeface="Calibri"/>
              </a:rPr>
              <a:t>Puedes ejecutarlo en tu máquina o servidor</a:t>
            </a:r>
          </a:p>
          <a:p>
            <a:pPr algn="l">
              <a:lnSpc>
                <a:spcPct val="130000"/>
              </a:lnSpc>
            </a:pPr>
            <a:r>
              <a:rPr sz="1400" b="1" i="0">
                <a:solidFill>
                  <a:srgbClr val="FF743B"/>
                </a:solidFill>
                <a:latin typeface="Calibri"/>
              </a:rPr>
              <a:t>● </a:t>
            </a:r>
            <a:r>
              <a:rPr sz="1400" b="0" i="0">
                <a:solidFill>
                  <a:srgbClr val="1D1D30"/>
                </a:solidFill>
                <a:latin typeface="Calibri"/>
              </a:rPr>
              <a:t>Privacidad total: tus datos no salen</a:t>
            </a:r>
          </a:p>
          <a:p>
            <a:pPr algn="l">
              <a:lnSpc>
                <a:spcPct val="130000"/>
              </a:lnSpc>
            </a:pPr>
            <a:r>
              <a:rPr sz="1400" b="1" i="0">
                <a:solidFill>
                  <a:srgbClr val="FF743B"/>
                </a:solidFill>
                <a:latin typeface="Calibri"/>
              </a:rPr>
              <a:t>● </a:t>
            </a:r>
            <a:r>
              <a:rPr sz="1400" b="0" i="0">
                <a:solidFill>
                  <a:srgbClr val="1D1D30"/>
                </a:solidFill>
                <a:latin typeface="Calibri"/>
              </a:rPr>
              <a:t>Customización con fine-tuning</a:t>
            </a:r>
          </a:p>
          <a:p>
            <a:pPr algn="l">
              <a:lnSpc>
                <a:spcPct val="130000"/>
              </a:lnSpc>
            </a:pPr>
            <a:r>
              <a:rPr sz="1400" b="1" i="0">
                <a:solidFill>
                  <a:srgbClr val="FF743B"/>
                </a:solidFill>
                <a:latin typeface="Calibri"/>
              </a:rPr>
              <a:t>● </a:t>
            </a:r>
            <a:r>
              <a:rPr sz="1400" b="0" i="0">
                <a:solidFill>
                  <a:srgbClr val="1D1D30"/>
                </a:solidFill>
                <a:latin typeface="Calibri"/>
              </a:rPr>
              <a:t>La brecha de calidad se ha cerrado</a:t>
            </a:r>
          </a:p>
        </p:txBody>
      </p:sp>
      <p:sp>
        <p:nvSpPr>
          <p:cNvPr id="11" name="Rectangle 10"/>
          <p:cNvSpPr/>
          <p:nvPr/>
        </p:nvSpPr>
        <p:spPr>
          <a:xfrm>
            <a:off x="4709160" y="1463040"/>
            <a:ext cx="4023360" cy="41148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1463040"/>
            <a:ext cx="4023360" cy="411480"/>
          </a:xfrm>
          <a:prstGeom prst="rect">
            <a:avLst/>
          </a:prstGeom>
          <a:noFill/>
        </p:spPr>
        <p:txBody>
          <a:bodyPr wrap="square" lIns="25400" rIns="25400" tIns="25400" bIns="25400" anchor="ctr">
            <a:spAutoFit/>
          </a:bodyPr>
          <a:lstStyle/>
          <a:p>
            <a:pPr algn="ctr"/>
            <a:r>
              <a:rPr sz="1600" b="1" i="0">
                <a:solidFill>
                  <a:srgbClr val="FFFFFF"/>
                </a:solidFill>
                <a:latin typeface="Calibri"/>
              </a:rPr>
              <a:t>Closed (API)</a:t>
            </a:r>
          </a:p>
        </p:txBody>
      </p:sp>
      <p:sp>
        <p:nvSpPr>
          <p:cNvPr id="13" name="TextBox 12"/>
          <p:cNvSpPr txBox="1"/>
          <p:nvPr/>
        </p:nvSpPr>
        <p:spPr>
          <a:xfrm>
            <a:off x="4800600" y="1965960"/>
            <a:ext cx="3931920" cy="2743200"/>
          </a:xfrm>
          <a:prstGeom prst="rect">
            <a:avLst/>
          </a:prstGeom>
          <a:noFill/>
        </p:spPr>
        <p:txBody>
          <a:bodyPr wrap="square" lIns="25400" rIns="25400" tIns="25400" bIns="25400" anchor="t">
            <a:spAutoFit/>
          </a:bodyPr>
          <a:lstStyle/>
          <a:p>
            <a:pPr algn="l">
              <a:lnSpc>
                <a:spcPct val="130000"/>
              </a:lnSpc>
            </a:pPr>
            <a:r>
              <a:rPr sz="1400" b="1" i="0">
                <a:solidFill>
                  <a:srgbClr val="1D1D30"/>
                </a:solidFill>
                <a:latin typeface="Calibri"/>
              </a:rPr>
              <a:t>● </a:t>
            </a:r>
            <a:r>
              <a:rPr sz="1400" b="0" i="0">
                <a:solidFill>
                  <a:srgbClr val="1D1D30"/>
                </a:solidFill>
                <a:latin typeface="Calibri"/>
              </a:rPr>
              <a:t>Mejor calidad de frontera (a veces)</a:t>
            </a:r>
          </a:p>
          <a:p>
            <a:pPr algn="l">
              <a:lnSpc>
                <a:spcPct val="130000"/>
              </a:lnSpc>
            </a:pPr>
            <a:r>
              <a:rPr sz="1400" b="1" i="0">
                <a:solidFill>
                  <a:srgbClr val="1D1D30"/>
                </a:solidFill>
                <a:latin typeface="Calibri"/>
              </a:rPr>
              <a:t>● </a:t>
            </a:r>
            <a:r>
              <a:rPr sz="1400" b="0" i="0">
                <a:solidFill>
                  <a:srgbClr val="1D1D30"/>
                </a:solidFill>
                <a:latin typeface="Calibri"/>
              </a:rPr>
              <a:t>Cero infraestructura: solo API key</a:t>
            </a:r>
          </a:p>
          <a:p>
            <a:pPr algn="l">
              <a:lnSpc>
                <a:spcPct val="130000"/>
              </a:lnSpc>
            </a:pPr>
            <a:r>
              <a:rPr sz="1400" b="1" i="0">
                <a:solidFill>
                  <a:srgbClr val="1D1D30"/>
                </a:solidFill>
                <a:latin typeface="Calibri"/>
              </a:rPr>
              <a:t>● </a:t>
            </a:r>
            <a:r>
              <a:rPr sz="1400" b="0" i="0">
                <a:solidFill>
                  <a:srgbClr val="1D1D30"/>
                </a:solidFill>
                <a:latin typeface="Calibri"/>
              </a:rPr>
              <a:t>Soporte profesional y SLAs</a:t>
            </a:r>
          </a:p>
          <a:p>
            <a:pPr algn="l">
              <a:lnSpc>
                <a:spcPct val="130000"/>
              </a:lnSpc>
            </a:pPr>
            <a:r>
              <a:rPr sz="1400" b="1" i="0">
                <a:solidFill>
                  <a:srgbClr val="1D1D30"/>
                </a:solidFill>
                <a:latin typeface="Calibri"/>
              </a:rPr>
              <a:t>● </a:t>
            </a:r>
            <a:r>
              <a:rPr sz="1400" b="0" i="0">
                <a:solidFill>
                  <a:srgbClr val="1D1D30"/>
                </a:solidFill>
                <a:latin typeface="Calibri"/>
              </a:rPr>
              <a:t>Tus datos pasan por un tercero</a:t>
            </a:r>
          </a:p>
          <a:p>
            <a:pPr algn="l">
              <a:lnSpc>
                <a:spcPct val="130000"/>
              </a:lnSpc>
            </a:pPr>
            <a:r>
              <a:rPr sz="1400" b="1" i="0">
                <a:solidFill>
                  <a:srgbClr val="1D1D30"/>
                </a:solidFill>
                <a:latin typeface="Calibri"/>
              </a:rPr>
              <a:t>● </a:t>
            </a:r>
            <a:r>
              <a:rPr sz="1400" b="0" i="0">
                <a:solidFill>
                  <a:srgbClr val="1D1D30"/>
                </a:solidFill>
                <a:latin typeface="Calibri"/>
              </a:rPr>
              <a:t>Coste de uso variable (€/token)</a:t>
            </a:r>
          </a:p>
        </p:txBody>
      </p:sp>
      <p:sp>
        <p:nvSpPr>
          <p:cNvPr id="14" name="Rectangle 13"/>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200" b="1" i="0">
                <a:solidFill>
                  <a:srgbClr val="1D1D30"/>
                </a:solidFill>
                <a:latin typeface="Calibri"/>
              </a:rPr>
              <a:t>Hugging Face: el GitHub de la IA</a:t>
            </a:r>
          </a:p>
        </p:txBody>
      </p:sp>
      <p:sp>
        <p:nvSpPr>
          <p:cNvPr id="8" name="TextBox 7"/>
          <p:cNvSpPr txBox="1"/>
          <p:nvPr/>
        </p:nvSpPr>
        <p:spPr>
          <a:xfrm>
            <a:off x="411480" y="1463040"/>
            <a:ext cx="8229600" cy="3200400"/>
          </a:xfrm>
          <a:prstGeom prst="rect">
            <a:avLst/>
          </a:prstGeom>
          <a:noFill/>
        </p:spPr>
        <p:txBody>
          <a:bodyPr wrap="square" lIns="25400" rIns="25400" tIns="25400" bIns="25400" anchor="t">
            <a:spAutoFit/>
          </a:bodyPr>
          <a:lstStyle/>
          <a:p>
            <a:pPr algn="l">
              <a:lnSpc>
                <a:spcPct val="125000"/>
              </a:lnSpc>
            </a:pPr>
            <a:r>
              <a:rPr sz="1800" b="0" i="0">
                <a:solidFill>
                  <a:srgbClr val="1D1D30"/>
                </a:solidFill>
                <a:latin typeface="Calibri"/>
              </a:rPr>
              <a:t>Hub central con más de 800.000 modelos open, datasets y demos.</a:t>
            </a:r>
          </a:p>
          <a:p>
            <a:pPr algn="l">
              <a:lnSpc>
                <a:spcPct val="125000"/>
              </a:lnSpc>
            </a:pPr>
            <a:r>
              <a:rPr sz="1800" b="0" i="0">
                <a:solidFill>
                  <a:srgbClr val="1D1D30"/>
                </a:solidFill>
                <a:latin typeface="Calibri"/>
              </a:rPr>
              <a:t/>
            </a:r>
          </a:p>
          <a:p>
            <a:pPr algn="l">
              <a:lnSpc>
                <a:spcPct val="125000"/>
              </a:lnSpc>
            </a:pPr>
            <a:r>
              <a:rPr sz="1800" b="0" i="0">
                <a:solidFill>
                  <a:srgbClr val="1D1D30"/>
                </a:solidFill>
                <a:latin typeface="Calibri"/>
              </a:rPr>
              <a:t>Te lo recomiendo como puerta de entrada para:</a:t>
            </a:r>
          </a:p>
          <a:p>
            <a:pPr algn="l">
              <a:lnSpc>
                <a:spcPct val="125000"/>
              </a:lnSpc>
            </a:pPr>
            <a:r>
              <a:rPr sz="1800" b="1" i="0">
                <a:solidFill>
                  <a:srgbClr val="FF743B"/>
                </a:solidFill>
                <a:latin typeface="Calibri"/>
              </a:rPr>
              <a:t>● </a:t>
            </a:r>
            <a:r>
              <a:rPr sz="1800" b="0" i="0">
                <a:solidFill>
                  <a:srgbClr val="1D1D30"/>
                </a:solidFill>
                <a:latin typeface="Calibri"/>
              </a:rPr>
              <a:t>Probar modelos sin instalar nada (Spaces).</a:t>
            </a:r>
          </a:p>
          <a:p>
            <a:pPr algn="l">
              <a:lnSpc>
                <a:spcPct val="125000"/>
              </a:lnSpc>
            </a:pPr>
            <a:r>
              <a:rPr sz="1800" b="1" i="0">
                <a:solidFill>
                  <a:srgbClr val="FF743B"/>
                </a:solidFill>
                <a:latin typeface="Calibri"/>
              </a:rPr>
              <a:t>● </a:t>
            </a:r>
            <a:r>
              <a:rPr sz="1800" b="0" i="0">
                <a:solidFill>
                  <a:srgbClr val="1D1D30"/>
                </a:solidFill>
                <a:latin typeface="Calibri"/>
              </a:rPr>
              <a:t>Descargar pesos para uso local.</a:t>
            </a:r>
          </a:p>
          <a:p>
            <a:pPr algn="l">
              <a:lnSpc>
                <a:spcPct val="125000"/>
              </a:lnSpc>
            </a:pPr>
            <a:r>
              <a:rPr sz="1800" b="1" i="0">
                <a:solidFill>
                  <a:srgbClr val="FF743B"/>
                </a:solidFill>
                <a:latin typeface="Calibri"/>
              </a:rPr>
              <a:t>● </a:t>
            </a:r>
            <a:r>
              <a:rPr sz="1800" b="0" i="0">
                <a:solidFill>
                  <a:srgbClr val="1D1D30"/>
                </a:solidFill>
                <a:latin typeface="Calibri"/>
              </a:rPr>
              <a:t>Inference API: misma interfaz que OpenAI sobre modelos open.</a:t>
            </a:r>
          </a:p>
          <a:p>
            <a:pPr algn="l">
              <a:lnSpc>
                <a:spcPct val="125000"/>
              </a:lnSpc>
            </a:pPr>
            <a:r>
              <a:rPr sz="1800" b="1" i="0">
                <a:solidFill>
                  <a:srgbClr val="FF743B"/>
                </a:solidFill>
                <a:latin typeface="Calibri"/>
              </a:rPr>
              <a:t>● </a:t>
            </a:r>
            <a:r>
              <a:rPr sz="1800" b="0" i="0">
                <a:solidFill>
                  <a:srgbClr val="1D1D30"/>
                </a:solidFill>
                <a:latin typeface="Calibri"/>
              </a:rPr>
              <a:t>Aprender leyendo model cards y datasets.</a:t>
            </a:r>
          </a:p>
          <a:p>
            <a:pPr algn="l">
              <a:lnSpc>
                <a:spcPct val="125000"/>
              </a:lnSpc>
            </a:pPr>
            <a:r>
              <a:rPr sz="1800" b="0" i="0">
                <a:solidFill>
                  <a:srgbClr val="1D1D30"/>
                </a:solidFill>
                <a:latin typeface="Calibri"/>
              </a:rPr>
              <a:t/>
            </a:r>
          </a:p>
          <a:p>
            <a:pPr algn="l">
              <a:lnSpc>
                <a:spcPct val="125000"/>
              </a:lnSpc>
            </a:pPr>
            <a:r>
              <a:rPr sz="1800" b="0" i="0">
                <a:solidFill>
                  <a:srgbClr val="1D1D30"/>
                </a:solidFill>
                <a:latin typeface="Calibri"/>
              </a:rPr>
              <a:t>huggingface.co</a:t>
            </a:r>
          </a:p>
        </p:txBody>
      </p:sp>
      <p:sp>
        <p:nvSpPr>
          <p:cNvPr id="9" name="Rectangle 8"/>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000" b="1" i="0">
                <a:solidFill>
                  <a:srgbClr val="1D1D30"/>
                </a:solidFill>
                <a:latin typeface="Calibri"/>
              </a:rPr>
              <a:t>Ejecutar IA en tu máquina</a:t>
            </a:r>
          </a:p>
        </p:txBody>
      </p:sp>
      <p:sp>
        <p:nvSpPr>
          <p:cNvPr id="8" name="Rectangle 7"/>
          <p:cNvSpPr/>
          <p:nvPr/>
        </p:nvSpPr>
        <p:spPr>
          <a:xfrm>
            <a:off x="411480" y="1463040"/>
            <a:ext cx="4023360" cy="41148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463040"/>
            <a:ext cx="4023360" cy="411480"/>
          </a:xfrm>
          <a:prstGeom prst="rect">
            <a:avLst/>
          </a:prstGeom>
          <a:noFill/>
        </p:spPr>
        <p:txBody>
          <a:bodyPr wrap="square" lIns="25400" rIns="25400" tIns="25400" bIns="25400" anchor="ctr">
            <a:spAutoFit/>
          </a:bodyPr>
          <a:lstStyle/>
          <a:p>
            <a:pPr algn="ctr"/>
            <a:r>
              <a:rPr sz="1600" b="1" i="0">
                <a:solidFill>
                  <a:srgbClr val="FFFFFF"/>
                </a:solidFill>
                <a:latin typeface="Calibri"/>
              </a:rPr>
              <a:t>Ollama (CLI)</a:t>
            </a:r>
          </a:p>
        </p:txBody>
      </p:sp>
      <p:sp>
        <p:nvSpPr>
          <p:cNvPr id="10" name="TextBox 9"/>
          <p:cNvSpPr txBox="1"/>
          <p:nvPr/>
        </p:nvSpPr>
        <p:spPr>
          <a:xfrm>
            <a:off x="502920" y="1965960"/>
            <a:ext cx="3931920" cy="2743200"/>
          </a:xfrm>
          <a:prstGeom prst="rect">
            <a:avLst/>
          </a:prstGeom>
          <a:noFill/>
        </p:spPr>
        <p:txBody>
          <a:bodyPr wrap="square" lIns="25400" rIns="25400" tIns="25400" bIns="25400" anchor="t">
            <a:spAutoFit/>
          </a:bodyPr>
          <a:lstStyle/>
          <a:p>
            <a:pPr algn="l">
              <a:lnSpc>
                <a:spcPct val="130000"/>
              </a:lnSpc>
            </a:pPr>
            <a:r>
              <a:rPr sz="1400" b="1" i="0">
                <a:solidFill>
                  <a:srgbClr val="FF743B"/>
                </a:solidFill>
                <a:latin typeface="Calibri"/>
              </a:rPr>
              <a:t>● </a:t>
            </a:r>
            <a:r>
              <a:rPr sz="1400" b="0" i="0">
                <a:solidFill>
                  <a:srgbClr val="1D1D30"/>
                </a:solidFill>
                <a:latin typeface="Calibri"/>
              </a:rPr>
              <a:t>Para perfil técnico, terminal-friendly</a:t>
            </a:r>
          </a:p>
          <a:p>
            <a:pPr algn="l">
              <a:lnSpc>
                <a:spcPct val="130000"/>
              </a:lnSpc>
            </a:pPr>
            <a:r>
              <a:rPr sz="1400" b="1" i="0">
                <a:solidFill>
                  <a:srgbClr val="FF743B"/>
                </a:solidFill>
                <a:latin typeface="Calibri"/>
              </a:rPr>
              <a:t>● </a:t>
            </a:r>
            <a:r>
              <a:rPr sz="1400" b="0" i="0">
                <a:solidFill>
                  <a:srgbClr val="1D1D30"/>
                </a:solidFill>
                <a:latin typeface="Calibri"/>
              </a:rPr>
              <a:t>ollama pull llama3.2:3b</a:t>
            </a:r>
          </a:p>
          <a:p>
            <a:pPr algn="l">
              <a:lnSpc>
                <a:spcPct val="130000"/>
              </a:lnSpc>
            </a:pPr>
            <a:r>
              <a:rPr sz="1400" b="1" i="0">
                <a:solidFill>
                  <a:srgbClr val="FF743B"/>
                </a:solidFill>
                <a:latin typeface="Calibri"/>
              </a:rPr>
              <a:t>● </a:t>
            </a:r>
            <a:r>
              <a:rPr sz="1400" b="0" i="0">
                <a:solidFill>
                  <a:srgbClr val="1D1D30"/>
                </a:solidFill>
                <a:latin typeface="Calibri"/>
              </a:rPr>
              <a:t>ollama run llama3.2</a:t>
            </a:r>
          </a:p>
          <a:p>
            <a:pPr algn="l">
              <a:lnSpc>
                <a:spcPct val="130000"/>
              </a:lnSpc>
            </a:pPr>
            <a:r>
              <a:rPr sz="1400" b="1" i="0">
                <a:solidFill>
                  <a:srgbClr val="FF743B"/>
                </a:solidFill>
                <a:latin typeface="Calibri"/>
              </a:rPr>
              <a:t>● </a:t>
            </a:r>
            <a:r>
              <a:rPr sz="1400" b="0" i="0">
                <a:solidFill>
                  <a:srgbClr val="1D1D30"/>
                </a:solidFill>
                <a:latin typeface="Calibri"/>
              </a:rPr>
              <a:t>API local en localhost:11434</a:t>
            </a:r>
          </a:p>
          <a:p>
            <a:pPr algn="l">
              <a:lnSpc>
                <a:spcPct val="130000"/>
              </a:lnSpc>
            </a:pPr>
            <a:r>
              <a:rPr sz="1400" b="1" i="0">
                <a:solidFill>
                  <a:srgbClr val="FF743B"/>
                </a:solidFill>
                <a:latin typeface="Calibri"/>
              </a:rPr>
              <a:t>● </a:t>
            </a:r>
            <a:r>
              <a:rPr sz="1400" b="0" i="0">
                <a:solidFill>
                  <a:srgbClr val="1D1D30"/>
                </a:solidFill>
                <a:latin typeface="Calibri"/>
              </a:rPr>
              <a:t>Compatible con OpenAI Python SDK</a:t>
            </a:r>
          </a:p>
        </p:txBody>
      </p:sp>
      <p:sp>
        <p:nvSpPr>
          <p:cNvPr id="11" name="Rectangle 10"/>
          <p:cNvSpPr/>
          <p:nvPr/>
        </p:nvSpPr>
        <p:spPr>
          <a:xfrm>
            <a:off x="4709160" y="1463040"/>
            <a:ext cx="4023360" cy="41148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1463040"/>
            <a:ext cx="4023360" cy="411480"/>
          </a:xfrm>
          <a:prstGeom prst="rect">
            <a:avLst/>
          </a:prstGeom>
          <a:noFill/>
        </p:spPr>
        <p:txBody>
          <a:bodyPr wrap="square" lIns="25400" rIns="25400" tIns="25400" bIns="25400" anchor="ctr">
            <a:spAutoFit/>
          </a:bodyPr>
          <a:lstStyle/>
          <a:p>
            <a:pPr algn="ctr"/>
            <a:r>
              <a:rPr sz="1600" b="1" i="0">
                <a:solidFill>
                  <a:srgbClr val="FFFFFF"/>
                </a:solidFill>
                <a:latin typeface="Calibri"/>
              </a:rPr>
              <a:t>LM Studio (GUI)</a:t>
            </a:r>
          </a:p>
        </p:txBody>
      </p:sp>
      <p:sp>
        <p:nvSpPr>
          <p:cNvPr id="13" name="TextBox 12"/>
          <p:cNvSpPr txBox="1"/>
          <p:nvPr/>
        </p:nvSpPr>
        <p:spPr>
          <a:xfrm>
            <a:off x="4800600" y="1965960"/>
            <a:ext cx="3931920" cy="2743200"/>
          </a:xfrm>
          <a:prstGeom prst="rect">
            <a:avLst/>
          </a:prstGeom>
          <a:noFill/>
        </p:spPr>
        <p:txBody>
          <a:bodyPr wrap="square" lIns="25400" rIns="25400" tIns="25400" bIns="25400" anchor="t">
            <a:spAutoFit/>
          </a:bodyPr>
          <a:lstStyle/>
          <a:p>
            <a:pPr algn="l">
              <a:lnSpc>
                <a:spcPct val="130000"/>
              </a:lnSpc>
            </a:pPr>
            <a:r>
              <a:rPr sz="1400" b="1" i="0">
                <a:solidFill>
                  <a:srgbClr val="1D1D30"/>
                </a:solidFill>
                <a:latin typeface="Calibri"/>
              </a:rPr>
              <a:t>● </a:t>
            </a:r>
            <a:r>
              <a:rPr sz="1400" b="0" i="0">
                <a:solidFill>
                  <a:srgbClr val="1D1D30"/>
                </a:solidFill>
                <a:latin typeface="Calibri"/>
              </a:rPr>
              <a:t>Para empezar sin línea de comandos</a:t>
            </a:r>
          </a:p>
          <a:p>
            <a:pPr algn="l">
              <a:lnSpc>
                <a:spcPct val="130000"/>
              </a:lnSpc>
            </a:pPr>
            <a:r>
              <a:rPr sz="1400" b="1" i="0">
                <a:solidFill>
                  <a:srgbClr val="1D1D30"/>
                </a:solidFill>
                <a:latin typeface="Calibri"/>
              </a:rPr>
              <a:t>● </a:t>
            </a:r>
            <a:r>
              <a:rPr sz="1400" b="0" i="0">
                <a:solidFill>
                  <a:srgbClr val="1D1D30"/>
                </a:solidFill>
                <a:latin typeface="Calibri"/>
              </a:rPr>
              <a:t>Descarga visual de modelos</a:t>
            </a:r>
          </a:p>
          <a:p>
            <a:pPr algn="l">
              <a:lnSpc>
                <a:spcPct val="130000"/>
              </a:lnSpc>
            </a:pPr>
            <a:r>
              <a:rPr sz="1400" b="1" i="0">
                <a:solidFill>
                  <a:srgbClr val="1D1D30"/>
                </a:solidFill>
                <a:latin typeface="Calibri"/>
              </a:rPr>
              <a:t>● </a:t>
            </a:r>
            <a:r>
              <a:rPr sz="1400" b="0" i="0">
                <a:solidFill>
                  <a:srgbClr val="1D1D30"/>
                </a:solidFill>
                <a:latin typeface="Calibri"/>
              </a:rPr>
              <a:t>Chat integrado tipo ChatGPT</a:t>
            </a:r>
          </a:p>
          <a:p>
            <a:pPr algn="l">
              <a:lnSpc>
                <a:spcPct val="130000"/>
              </a:lnSpc>
            </a:pPr>
            <a:r>
              <a:rPr sz="1400" b="1" i="0">
                <a:solidFill>
                  <a:srgbClr val="1D1D30"/>
                </a:solidFill>
                <a:latin typeface="Calibri"/>
              </a:rPr>
              <a:t>● </a:t>
            </a:r>
            <a:r>
              <a:rPr sz="1400" b="0" i="0">
                <a:solidFill>
                  <a:srgbClr val="1D1D30"/>
                </a:solidFill>
                <a:latin typeface="Calibri"/>
              </a:rPr>
              <a:t>Servidor OpenAI-compatible local</a:t>
            </a:r>
          </a:p>
          <a:p>
            <a:pPr algn="l">
              <a:lnSpc>
                <a:spcPct val="130000"/>
              </a:lnSpc>
            </a:pPr>
            <a:r>
              <a:rPr sz="1400" b="1" i="0">
                <a:solidFill>
                  <a:srgbClr val="1D1D30"/>
                </a:solidFill>
                <a:latin typeface="Calibri"/>
              </a:rPr>
              <a:t>● </a:t>
            </a:r>
            <a:r>
              <a:rPr sz="1400" b="0" i="0">
                <a:solidFill>
                  <a:srgbClr val="1D1D30"/>
                </a:solidFill>
                <a:latin typeface="Calibri"/>
              </a:rPr>
              <a:t>Ideal para Windows y aprender</a:t>
            </a:r>
          </a:p>
        </p:txBody>
      </p:sp>
      <p:sp>
        <p:nvSpPr>
          <p:cNvPr id="14" name="Rectangle 13"/>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000" b="1" i="0">
                <a:solidFill>
                  <a:srgbClr val="1D1D30"/>
                </a:solidFill>
                <a:latin typeface="Calibri"/>
              </a:rPr>
              <a:t>¿Cuál usar para qué?</a:t>
            </a:r>
          </a:p>
        </p:txBody>
      </p:sp>
      <p:sp>
        <p:nvSpPr>
          <p:cNvPr id="8" name="Rectangle 7"/>
          <p:cNvSpPr/>
          <p:nvPr/>
        </p:nvSpPr>
        <p:spPr>
          <a:xfrm>
            <a:off x="640080" y="1554480"/>
            <a:ext cx="7863840" cy="14630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54480"/>
            <a:ext cx="7498079" cy="1463040"/>
          </a:xfrm>
          <a:prstGeom prst="rect">
            <a:avLst/>
          </a:prstGeom>
          <a:noFill/>
        </p:spPr>
        <p:txBody>
          <a:bodyPr wrap="square" lIns="25400" rIns="25400" tIns="25400" bIns="25400" anchor="ctr">
            <a:spAutoFit/>
          </a:bodyPr>
          <a:lstStyle/>
          <a:p>
            <a:pPr algn="ctr">
              <a:lnSpc>
                <a:spcPct val="120000"/>
              </a:lnSpc>
            </a:pPr>
            <a:r>
              <a:rPr sz="2400" b="1" i="0">
                <a:solidFill>
                  <a:srgbClr val="FFFFFF"/>
                </a:solidFill>
                <a:latin typeface="Calibri"/>
              </a:rPr>
              <a:t>No hay «el mejor».</a:t>
            </a:r>
          </a:p>
          <a:p>
            <a:pPr algn="ctr">
              <a:lnSpc>
                <a:spcPct val="120000"/>
              </a:lnSpc>
            </a:pPr>
            <a:r>
              <a:rPr sz="2400" b="1" i="0">
                <a:solidFill>
                  <a:srgbClr val="FFFFFF"/>
                </a:solidFill>
                <a:latin typeface="Calibri"/>
              </a:rPr>
              <a:t>Hay «el mejor para esto».</a:t>
            </a:r>
          </a:p>
        </p:txBody>
      </p:sp>
      <p:sp>
        <p:nvSpPr>
          <p:cNvPr id="10" name="TextBox 9"/>
          <p:cNvSpPr txBox="1"/>
          <p:nvPr/>
        </p:nvSpPr>
        <p:spPr>
          <a:xfrm>
            <a:off x="640080" y="3383280"/>
            <a:ext cx="7863840" cy="1371600"/>
          </a:xfrm>
          <a:prstGeom prst="rect">
            <a:avLst/>
          </a:prstGeom>
          <a:noFill/>
        </p:spPr>
        <p:txBody>
          <a:bodyPr wrap="square" lIns="25400" rIns="25400" tIns="25400" bIns="25400" anchor="t">
            <a:spAutoFit/>
          </a:bodyPr>
          <a:lstStyle/>
          <a:p>
            <a:pPr algn="l">
              <a:lnSpc>
                <a:spcPct val="130000"/>
              </a:lnSpc>
            </a:pPr>
            <a:r>
              <a:rPr sz="1600" b="1" i="0">
                <a:solidFill>
                  <a:srgbClr val="FF743B"/>
                </a:solidFill>
                <a:latin typeface="Calibri"/>
              </a:rPr>
              <a:t>● </a:t>
            </a:r>
            <a:r>
              <a:rPr sz="1600" b="0" i="0">
                <a:solidFill>
                  <a:srgbClr val="1D1D30"/>
                </a:solidFill>
                <a:latin typeface="Calibri"/>
              </a:rPr>
              <a:t>Datos confidenciales o regulación → open en local</a:t>
            </a:r>
          </a:p>
          <a:p>
            <a:pPr algn="l">
              <a:lnSpc>
                <a:spcPct val="130000"/>
              </a:lnSpc>
            </a:pPr>
            <a:r>
              <a:rPr sz="1600" b="1" i="0">
                <a:solidFill>
                  <a:srgbClr val="FF743B"/>
                </a:solidFill>
                <a:latin typeface="Calibri"/>
              </a:rPr>
              <a:t>● </a:t>
            </a:r>
            <a:r>
              <a:rPr sz="1600" b="0" i="0">
                <a:solidFill>
                  <a:srgbClr val="1D1D30"/>
                </a:solidFill>
                <a:latin typeface="Calibri"/>
              </a:rPr>
              <a:t>Volumen alto y barato → mini/flash/haiku</a:t>
            </a:r>
          </a:p>
          <a:p>
            <a:pPr algn="l">
              <a:lnSpc>
                <a:spcPct val="130000"/>
              </a:lnSpc>
            </a:pPr>
            <a:r>
              <a:rPr sz="1600" b="1" i="0">
                <a:solidFill>
                  <a:srgbClr val="FF743B"/>
                </a:solidFill>
                <a:latin typeface="Calibri"/>
              </a:rPr>
              <a:t>● </a:t>
            </a:r>
            <a:r>
              <a:rPr sz="1600" b="0" i="0">
                <a:solidFill>
                  <a:srgbClr val="1D1D30"/>
                </a:solidFill>
                <a:latin typeface="Calibri"/>
              </a:rPr>
              <a:t>Razonamiento complejo → razonadores (o3, thinking)</a:t>
            </a:r>
          </a:p>
          <a:p>
            <a:pPr algn="l">
              <a:lnSpc>
                <a:spcPct val="130000"/>
              </a:lnSpc>
            </a:pPr>
            <a:r>
              <a:rPr sz="1600" b="1" i="0">
                <a:solidFill>
                  <a:srgbClr val="FF743B"/>
                </a:solidFill>
                <a:latin typeface="Calibri"/>
              </a:rPr>
              <a:t>● </a:t>
            </a:r>
            <a:r>
              <a:rPr sz="1600" b="0" i="0">
                <a:solidFill>
                  <a:srgbClr val="1D1D30"/>
                </a:solidFill>
                <a:latin typeface="Calibri"/>
              </a:rPr>
              <a:t>Calidad máxima sin pelear → frontera (Opus, Gemini Pro)</a:t>
            </a:r>
          </a:p>
          <a:p>
            <a:pPr algn="l">
              <a:lnSpc>
                <a:spcPct val="130000"/>
              </a:lnSpc>
            </a:pPr>
            <a:r>
              <a:rPr sz="1600" b="1" i="0">
                <a:solidFill>
                  <a:srgbClr val="FF743B"/>
                </a:solidFill>
                <a:latin typeface="Calibri"/>
              </a:rPr>
              <a:t>● </a:t>
            </a:r>
            <a:r>
              <a:rPr sz="1600" b="0" i="0">
                <a:solidFill>
                  <a:srgbClr val="1D1D30"/>
                </a:solidFill>
                <a:latin typeface="Calibri"/>
              </a:rPr>
              <a:t>Aprender y trastear → local con Ollama</a:t>
            </a:r>
          </a:p>
        </p:txBody>
      </p:sp>
      <p:sp>
        <p:nvSpPr>
          <p:cNvPr id="11" name="Rectangle 10"/>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Rectangle 6"/>
          <p:cNvSpPr/>
          <p:nvPr/>
        </p:nvSpPr>
        <p:spPr>
          <a:xfrm>
            <a:off x="411480" y="502920"/>
            <a:ext cx="2377440" cy="365760"/>
          </a:xfrm>
          <a:prstGeom prst="rect">
            <a:avLst/>
          </a:prstGeom>
          <a:solidFill>
            <a:srgbClr val="F0F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502920"/>
            <a:ext cx="2377440" cy="365760"/>
          </a:xfrm>
          <a:prstGeom prst="rect">
            <a:avLst/>
          </a:prstGeom>
          <a:noFill/>
        </p:spPr>
        <p:txBody>
          <a:bodyPr wrap="square" lIns="25400" rIns="25400" tIns="25400" bIns="25400" anchor="ctr">
            <a:spAutoFit/>
          </a:bodyPr>
          <a:lstStyle/>
          <a:p>
            <a:pPr algn="ctr"/>
            <a:r>
              <a:rPr sz="1300" b="1" i="0">
                <a:solidFill>
                  <a:srgbClr val="1D1D30"/>
                </a:solidFill>
                <a:latin typeface="Calibri"/>
              </a:rPr>
              <a:t>DEBATE EN GRUPO</a:t>
            </a:r>
          </a:p>
        </p:txBody>
      </p:sp>
      <p:sp>
        <p:nvSpPr>
          <p:cNvPr id="9" name="Rectangle 8"/>
          <p:cNvSpPr/>
          <p:nvPr/>
        </p:nvSpPr>
        <p:spPr>
          <a:xfrm>
            <a:off x="411480" y="1143000"/>
            <a:ext cx="1280160" cy="36576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143000"/>
            <a:ext cx="1280160" cy="365760"/>
          </a:xfrm>
          <a:prstGeom prst="rect">
            <a:avLst/>
          </a:prstGeom>
          <a:noFill/>
        </p:spPr>
        <p:txBody>
          <a:bodyPr wrap="square" lIns="25400" rIns="25400" tIns="25400" bIns="25400" anchor="ctr">
            <a:spAutoFit/>
          </a:bodyPr>
          <a:lstStyle/>
          <a:p>
            <a:pPr algn="ctr"/>
            <a:r>
              <a:rPr sz="1400" b="1" i="0">
                <a:solidFill>
                  <a:srgbClr val="FFFFFF"/>
                </a:solidFill>
                <a:latin typeface="Calibri"/>
              </a:rPr>
              <a:t>Ejercicio 2</a:t>
            </a:r>
          </a:p>
        </p:txBody>
      </p:sp>
      <p:sp>
        <p:nvSpPr>
          <p:cNvPr id="11" name="Rectangle 10"/>
          <p:cNvSpPr/>
          <p:nvPr/>
        </p:nvSpPr>
        <p:spPr>
          <a:xfrm>
            <a:off x="1783080" y="1143000"/>
            <a:ext cx="1280160" cy="365760"/>
          </a:xfrm>
          <a:prstGeom prst="rect">
            <a:avLst/>
          </a:prstGeom>
          <a:solidFill>
            <a:srgbClr val="F0F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83080" y="1143000"/>
            <a:ext cx="1280160" cy="365760"/>
          </a:xfrm>
          <a:prstGeom prst="rect">
            <a:avLst/>
          </a:prstGeom>
          <a:noFill/>
        </p:spPr>
        <p:txBody>
          <a:bodyPr wrap="square" lIns="25400" rIns="25400" tIns="25400" bIns="25400" anchor="ctr">
            <a:spAutoFit/>
          </a:bodyPr>
          <a:lstStyle/>
          <a:p>
            <a:pPr algn="ctr"/>
            <a:r>
              <a:rPr sz="1400" b="1" i="0">
                <a:solidFill>
                  <a:srgbClr val="1D1D30"/>
                </a:solidFill>
                <a:latin typeface="Calibri"/>
              </a:rPr>
              <a:t>10 min</a:t>
            </a:r>
          </a:p>
        </p:txBody>
      </p:sp>
      <p:sp>
        <p:nvSpPr>
          <p:cNvPr id="13" name="TextBox 12"/>
          <p:cNvSpPr txBox="1"/>
          <p:nvPr/>
        </p:nvSpPr>
        <p:spPr>
          <a:xfrm>
            <a:off x="411480" y="1828800"/>
            <a:ext cx="8229600" cy="2743200"/>
          </a:xfrm>
          <a:prstGeom prst="rect">
            <a:avLst/>
          </a:prstGeom>
          <a:noFill/>
        </p:spPr>
        <p:txBody>
          <a:bodyPr wrap="square" lIns="25400" rIns="25400" tIns="25400" bIns="25400" anchor="t">
            <a:spAutoFit/>
          </a:bodyPr>
          <a:lstStyle/>
          <a:p>
            <a:pPr algn="l">
              <a:lnSpc>
                <a:spcPct val="140000"/>
              </a:lnSpc>
            </a:pPr>
            <a:r>
              <a:rPr sz="1800" b="1" i="0">
                <a:solidFill>
                  <a:srgbClr val="1D1D30"/>
                </a:solidFill>
                <a:latin typeface="Calibri"/>
              </a:rPr>
              <a:t>Misión: </a:t>
            </a:r>
            <a:r>
              <a:rPr sz="1800" b="0" i="0">
                <a:solidFill>
                  <a:srgbClr val="1D1D30"/>
                </a:solidFill>
                <a:latin typeface="Calibri"/>
              </a:rPr>
              <a:t>En grupos de 3, decidid qué tipo de IA usaríais en estos casos: 1) chatbot atención cliente de un banco, 2) asistente de redacción de un periodista, 3) tutor educativo para niños, 4) análisis de historiales médicos.</a:t>
            </a:r>
          </a:p>
          <a:p>
            <a:pPr algn="l">
              <a:lnSpc>
                <a:spcPct val="140000"/>
              </a:lnSpc>
            </a:pPr>
            <a:r>
              <a:rPr sz="1800" b="1" i="0">
                <a:solidFill>
                  <a:srgbClr val="1D1D30"/>
                </a:solidFill>
                <a:latin typeface="Calibri"/>
              </a:rPr>
              <a:t>Objetivo: </a:t>
            </a:r>
            <a:r>
              <a:rPr sz="1800" b="0" i="0">
                <a:solidFill>
                  <a:srgbClr val="1D1D30"/>
                </a:solidFill>
                <a:latin typeface="Calibri"/>
              </a:rPr>
              <a:t>Que aprendáis a justificar la elección por privacidad, coste, calidad y latencia, no por «la marca que conozco».</a:t>
            </a:r>
          </a:p>
        </p:txBody>
      </p:sp>
      <p:sp>
        <p:nvSpPr>
          <p:cNvPr id="14" name="Rectangle 13"/>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571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143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14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857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429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00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72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143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715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286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429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001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72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144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715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39496" y="502920"/>
            <a:ext cx="3776472" cy="777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9496" y="1417320"/>
            <a:ext cx="6400800" cy="365760"/>
          </a:xfrm>
          <a:prstGeom prst="rect">
            <a:avLst/>
          </a:prstGeom>
          <a:noFill/>
        </p:spPr>
        <p:txBody>
          <a:bodyPr wrap="square" lIns="25400" rIns="25400" tIns="25400" bIns="25400" anchor="t">
            <a:spAutoFit/>
          </a:bodyPr>
          <a:lstStyle/>
          <a:p>
            <a:pPr algn="l"/>
            <a:r>
              <a:rPr sz="1400" b="0" i="0">
                <a:solidFill>
                  <a:srgbClr val="F0F46A"/>
                </a:solidFill>
                <a:latin typeface="Calibri"/>
              </a:rPr>
              <a:t>BLOQUE 4</a:t>
            </a:r>
          </a:p>
        </p:txBody>
      </p:sp>
      <p:sp>
        <p:nvSpPr>
          <p:cNvPr id="22" name="TextBox 21"/>
          <p:cNvSpPr txBox="1"/>
          <p:nvPr/>
        </p:nvSpPr>
        <p:spPr>
          <a:xfrm>
            <a:off x="539496" y="1920240"/>
            <a:ext cx="8229600" cy="2377440"/>
          </a:xfrm>
          <a:prstGeom prst="rect">
            <a:avLst/>
          </a:prstGeom>
          <a:noFill/>
        </p:spPr>
        <p:txBody>
          <a:bodyPr wrap="square" lIns="25400" rIns="25400" tIns="25400" bIns="25400" anchor="t">
            <a:spAutoFit/>
          </a:bodyPr>
          <a:lstStyle/>
          <a:p>
            <a:pPr algn="l">
              <a:lnSpc>
                <a:spcPct val="105000"/>
              </a:lnSpc>
            </a:pPr>
            <a:r>
              <a:rPr sz="4200" b="1" i="0">
                <a:solidFill>
                  <a:srgbClr val="FFFFFF"/>
                </a:solidFill>
                <a:latin typeface="Calibri"/>
              </a:rPr>
              <a:t>Anatomía</a:t>
            </a:r>
          </a:p>
          <a:p>
            <a:pPr algn="l">
              <a:lnSpc>
                <a:spcPct val="105000"/>
              </a:lnSpc>
            </a:pPr>
            <a:r>
              <a:rPr sz="4200" b="1" i="0">
                <a:solidFill>
                  <a:srgbClr val="FFFFFF"/>
                </a:solidFill>
                <a:latin typeface="Calibri"/>
              </a:rPr>
              <a:t>de un prompt</a:t>
            </a:r>
          </a:p>
        </p:txBody>
      </p:sp>
      <p:sp>
        <p:nvSpPr>
          <p:cNvPr id="23" name="Rectangle 2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25" name="Rectangle 2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27" name="TextBox 26"/>
          <p:cNvSpPr txBox="1"/>
          <p:nvPr/>
        </p:nvSpPr>
        <p:spPr>
          <a:xfrm>
            <a:off x="8503920" y="4846320"/>
            <a:ext cx="457200" cy="228600"/>
          </a:xfrm>
          <a:prstGeom prst="rect">
            <a:avLst/>
          </a:prstGeom>
          <a:noFill/>
        </p:spPr>
        <p:txBody>
          <a:bodyPr wrap="square" lIns="25400" rIns="25400" tIns="25400" bIns="25400" anchor="t">
            <a:spAutoFit/>
          </a:bodyPr>
          <a:lstStyle/>
          <a:p>
            <a:pPr algn="r"/>
            <a:r>
              <a:rPr sz="1000" b="0" i="0">
                <a:solidFill>
                  <a:srgbClr val="FFFFFF"/>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200" b="1" i="0">
                <a:solidFill>
                  <a:srgbClr val="1D1D30"/>
                </a:solidFill>
                <a:latin typeface="Calibri"/>
              </a:rPr>
              <a:t>¿Qué es un prompt?</a:t>
            </a:r>
          </a:p>
        </p:txBody>
      </p:sp>
      <p:sp>
        <p:nvSpPr>
          <p:cNvPr id="8" name="TextBox 7"/>
          <p:cNvSpPr txBox="1"/>
          <p:nvPr/>
        </p:nvSpPr>
        <p:spPr>
          <a:xfrm>
            <a:off x="411480" y="1463040"/>
            <a:ext cx="8229600" cy="3200400"/>
          </a:xfrm>
          <a:prstGeom prst="rect">
            <a:avLst/>
          </a:prstGeom>
          <a:noFill/>
        </p:spPr>
        <p:txBody>
          <a:bodyPr wrap="square" lIns="25400" rIns="25400" tIns="25400" bIns="25400" anchor="t">
            <a:spAutoFit/>
          </a:bodyPr>
          <a:lstStyle/>
          <a:p>
            <a:pPr algn="l">
              <a:lnSpc>
                <a:spcPct val="125000"/>
              </a:lnSpc>
            </a:pPr>
            <a:r>
              <a:rPr sz="1800" b="0" i="0">
                <a:solidFill>
                  <a:srgbClr val="1D1D30"/>
                </a:solidFill>
                <a:latin typeface="Calibri"/>
              </a:rPr>
              <a:t>Un prompt es la instrucción (o conjunto de instrucciones) que le das a un LLM para que haga una tarea concreta.</a:t>
            </a:r>
          </a:p>
          <a:p>
            <a:pPr algn="l">
              <a:lnSpc>
                <a:spcPct val="125000"/>
              </a:lnSpc>
            </a:pPr>
            <a:r>
              <a:rPr sz="1800" b="0" i="0">
                <a:solidFill>
                  <a:srgbClr val="1D1D30"/>
                </a:solidFill>
                <a:latin typeface="Calibri"/>
              </a:rPr>
              <a:t/>
            </a:r>
          </a:p>
          <a:p>
            <a:pPr algn="l">
              <a:lnSpc>
                <a:spcPct val="125000"/>
              </a:lnSpc>
            </a:pPr>
            <a:r>
              <a:rPr sz="1800" b="0" i="0">
                <a:solidFill>
                  <a:srgbClr val="1D1D30"/>
                </a:solidFill>
                <a:latin typeface="Calibri"/>
              </a:rPr>
              <a:t>Un buen prompt es la diferencia entre:</a:t>
            </a:r>
          </a:p>
          <a:p>
            <a:pPr algn="l">
              <a:lnSpc>
                <a:spcPct val="125000"/>
              </a:lnSpc>
            </a:pPr>
            <a:r>
              <a:rPr sz="1800" b="1" i="0">
                <a:solidFill>
                  <a:srgbClr val="FF743B"/>
                </a:solidFill>
                <a:latin typeface="Calibri"/>
              </a:rPr>
              <a:t>● </a:t>
            </a:r>
            <a:r>
              <a:rPr sz="1800" b="0" i="1">
                <a:solidFill>
                  <a:srgbClr val="1D1D30"/>
                </a:solidFill>
                <a:latin typeface="Calibri"/>
              </a:rPr>
              <a:t>«Esto no sirve para nada»</a:t>
            </a:r>
          </a:p>
          <a:p>
            <a:pPr algn="l">
              <a:lnSpc>
                <a:spcPct val="125000"/>
              </a:lnSpc>
            </a:pPr>
            <a:r>
              <a:rPr sz="1800" b="1" i="0">
                <a:solidFill>
                  <a:srgbClr val="FF743B"/>
                </a:solidFill>
                <a:latin typeface="Calibri"/>
              </a:rPr>
              <a:t>● </a:t>
            </a:r>
            <a:r>
              <a:rPr sz="1800" b="0" i="1">
                <a:solidFill>
                  <a:srgbClr val="1D1D30"/>
                </a:solidFill>
                <a:latin typeface="Calibri"/>
              </a:rPr>
              <a:t>«Vale, ahora soy tres veces más rápido»</a:t>
            </a:r>
          </a:p>
          <a:p>
            <a:pPr algn="l">
              <a:lnSpc>
                <a:spcPct val="125000"/>
              </a:lnSpc>
            </a:pPr>
            <a:r>
              <a:rPr sz="1800" b="0" i="0">
                <a:solidFill>
                  <a:srgbClr val="1D1D30"/>
                </a:solidFill>
                <a:latin typeface="Calibri"/>
              </a:rPr>
              <a:t/>
            </a:r>
          </a:p>
          <a:p>
            <a:pPr algn="l">
              <a:lnSpc>
                <a:spcPct val="125000"/>
              </a:lnSpc>
            </a:pPr>
            <a:r>
              <a:rPr sz="1800" b="0" i="0">
                <a:solidFill>
                  <a:srgbClr val="1D1D30"/>
                </a:solidFill>
                <a:latin typeface="Calibri"/>
              </a:rPr>
              <a:t>El prompt engineering NO es magia ni truco. Es saber dar instrucciones claras a un sistema que las interpreta literalmente.</a:t>
            </a:r>
          </a:p>
        </p:txBody>
      </p:sp>
      <p:sp>
        <p:nvSpPr>
          <p:cNvPr id="9" name="Rectangle 8"/>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200" b="1" i="0">
                <a:solidFill>
                  <a:srgbClr val="1D1D30"/>
                </a:solidFill>
                <a:latin typeface="Calibri"/>
              </a:rPr>
              <a:t>Las 4 piezas de un prompt potente</a:t>
            </a:r>
          </a:p>
        </p:txBody>
      </p:sp>
      <p:sp>
        <p:nvSpPr>
          <p:cNvPr id="8" name="TextBox 7"/>
          <p:cNvSpPr txBox="1"/>
          <p:nvPr/>
        </p:nvSpPr>
        <p:spPr>
          <a:xfrm>
            <a:off x="411480" y="1417320"/>
            <a:ext cx="8229600" cy="3383280"/>
          </a:xfrm>
          <a:prstGeom prst="rect">
            <a:avLst/>
          </a:prstGeom>
          <a:noFill/>
        </p:spPr>
        <p:txBody>
          <a:bodyPr wrap="square" lIns="25400" rIns="25400" tIns="25400" bIns="25400" anchor="t">
            <a:spAutoFit/>
          </a:bodyPr>
          <a:lstStyle/>
          <a:p>
            <a:pPr algn="l">
              <a:lnSpc>
                <a:spcPct val="135000"/>
              </a:lnSpc>
            </a:pPr>
            <a:r>
              <a:rPr sz="1700" b="1" i="0">
                <a:solidFill>
                  <a:srgbClr val="FF743B"/>
                </a:solidFill>
                <a:latin typeface="Calibri"/>
              </a:rPr>
              <a:t>● </a:t>
            </a:r>
            <a:r>
              <a:rPr sz="1700" b="1" i="0">
                <a:solidFill>
                  <a:srgbClr val="1D1D30"/>
                </a:solidFill>
                <a:latin typeface="Calibri"/>
              </a:rPr>
              <a:t>Rol</a:t>
            </a:r>
            <a:r>
              <a:rPr sz="1700" b="0" i="0">
                <a:solidFill>
                  <a:srgbClr val="1D1D30"/>
                </a:solidFill>
                <a:latin typeface="Calibri"/>
              </a:rPr>
              <a:t>: quién quieres que sea (experto en X, redactor en Y)</a:t>
            </a:r>
          </a:p>
          <a:p>
            <a:pPr algn="l">
              <a:lnSpc>
                <a:spcPct val="135000"/>
              </a:lnSpc>
            </a:pPr>
            <a:r>
              <a:rPr sz="1700" b="1" i="0">
                <a:solidFill>
                  <a:srgbClr val="FF743B"/>
                </a:solidFill>
                <a:latin typeface="Calibri"/>
              </a:rPr>
              <a:t>● </a:t>
            </a:r>
            <a:r>
              <a:rPr sz="1700" b="1" i="0">
                <a:solidFill>
                  <a:srgbClr val="1D1D30"/>
                </a:solidFill>
                <a:latin typeface="Calibri"/>
              </a:rPr>
              <a:t>Contexto</a:t>
            </a:r>
            <a:r>
              <a:rPr sz="1700" b="0" i="0">
                <a:solidFill>
                  <a:srgbClr val="1D1D30"/>
                </a:solidFill>
                <a:latin typeface="Calibri"/>
              </a:rPr>
              <a:t>: información de fondo que el modelo necesita</a:t>
            </a:r>
          </a:p>
          <a:p>
            <a:pPr algn="l">
              <a:lnSpc>
                <a:spcPct val="135000"/>
              </a:lnSpc>
            </a:pPr>
            <a:r>
              <a:rPr sz="1700" b="1" i="0">
                <a:solidFill>
                  <a:srgbClr val="FF743B"/>
                </a:solidFill>
                <a:latin typeface="Calibri"/>
              </a:rPr>
              <a:t>● </a:t>
            </a:r>
            <a:r>
              <a:rPr sz="1700" b="1" i="0">
                <a:solidFill>
                  <a:srgbClr val="1D1D30"/>
                </a:solidFill>
                <a:latin typeface="Calibri"/>
              </a:rPr>
              <a:t>Instrucción</a:t>
            </a:r>
            <a:r>
              <a:rPr sz="1700" b="0" i="0">
                <a:solidFill>
                  <a:srgbClr val="1D1D30"/>
                </a:solidFill>
                <a:latin typeface="Calibri"/>
              </a:rPr>
              <a:t>: qué tarea concreta debe ejecutar</a:t>
            </a:r>
          </a:p>
          <a:p>
            <a:pPr algn="l">
              <a:lnSpc>
                <a:spcPct val="135000"/>
              </a:lnSpc>
            </a:pPr>
            <a:r>
              <a:rPr sz="1700" b="1" i="0">
                <a:solidFill>
                  <a:srgbClr val="FF743B"/>
                </a:solidFill>
                <a:latin typeface="Calibri"/>
              </a:rPr>
              <a:t>● </a:t>
            </a:r>
            <a:r>
              <a:rPr sz="1700" b="1" i="0">
                <a:solidFill>
                  <a:srgbClr val="1D1D30"/>
                </a:solidFill>
                <a:latin typeface="Calibri"/>
              </a:rPr>
              <a:t>Output</a:t>
            </a:r>
            <a:r>
              <a:rPr sz="1700" b="0" i="0">
                <a:solidFill>
                  <a:srgbClr val="1D1D30"/>
                </a:solidFill>
                <a:latin typeface="Calibri"/>
              </a:rPr>
              <a:t>: formato exacto del resultado (JSON, lista, párrafo, longitud…)</a:t>
            </a:r>
          </a:p>
        </p:txBody>
      </p:sp>
      <p:sp>
        <p:nvSpPr>
          <p:cNvPr id="9" name="Rectangle 8"/>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000" b="1" i="0">
                <a:solidFill>
                  <a:srgbClr val="1D1D30"/>
                </a:solidFill>
                <a:latin typeface="Calibri"/>
              </a:rPr>
              <a:t>Mismo objetivo, dos prompts</a:t>
            </a:r>
          </a:p>
        </p:txBody>
      </p:sp>
      <p:sp>
        <p:nvSpPr>
          <p:cNvPr id="8" name="Rectangle 7"/>
          <p:cNvSpPr/>
          <p:nvPr/>
        </p:nvSpPr>
        <p:spPr>
          <a:xfrm>
            <a:off x="411480" y="1463040"/>
            <a:ext cx="4023360" cy="41148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463040"/>
            <a:ext cx="4023360" cy="411480"/>
          </a:xfrm>
          <a:prstGeom prst="rect">
            <a:avLst/>
          </a:prstGeom>
          <a:noFill/>
        </p:spPr>
        <p:txBody>
          <a:bodyPr wrap="square" lIns="25400" rIns="25400" tIns="25400" bIns="25400" anchor="ctr">
            <a:spAutoFit/>
          </a:bodyPr>
          <a:lstStyle/>
          <a:p>
            <a:pPr algn="ctr"/>
            <a:r>
              <a:rPr sz="1600" b="1" i="0">
                <a:solidFill>
                  <a:srgbClr val="FFFFFF"/>
                </a:solidFill>
                <a:latin typeface="Calibri"/>
              </a:rPr>
              <a:t>Prompt débil</a:t>
            </a:r>
          </a:p>
        </p:txBody>
      </p:sp>
      <p:sp>
        <p:nvSpPr>
          <p:cNvPr id="10" name="TextBox 9"/>
          <p:cNvSpPr txBox="1"/>
          <p:nvPr/>
        </p:nvSpPr>
        <p:spPr>
          <a:xfrm>
            <a:off x="502920" y="1965960"/>
            <a:ext cx="3931920" cy="2743200"/>
          </a:xfrm>
          <a:prstGeom prst="rect">
            <a:avLst/>
          </a:prstGeom>
          <a:noFill/>
        </p:spPr>
        <p:txBody>
          <a:bodyPr wrap="square" lIns="25400" rIns="25400" tIns="25400" bIns="25400" anchor="t">
            <a:spAutoFit/>
          </a:bodyPr>
          <a:lstStyle/>
          <a:p>
            <a:pPr algn="l">
              <a:lnSpc>
                <a:spcPct val="130000"/>
              </a:lnSpc>
            </a:pPr>
            <a:r>
              <a:rPr sz="1400" b="1" i="0">
                <a:solidFill>
                  <a:srgbClr val="FF743B"/>
                </a:solidFill>
                <a:latin typeface="Calibri"/>
              </a:rPr>
              <a:t>● </a:t>
            </a:r>
            <a:r>
              <a:rPr sz="1400" b="0" i="0">
                <a:solidFill>
                  <a:srgbClr val="1D1D30"/>
                </a:solidFill>
                <a:latin typeface="Calibri"/>
              </a:rPr>
              <a:t>«Escríbeme un email para un cliente que se queja»</a:t>
            </a:r>
          </a:p>
          <a:p>
            <a:pPr algn="l">
              <a:lnSpc>
                <a:spcPct val="130000"/>
              </a:lnSpc>
            </a:pPr>
            <a:r>
              <a:rPr sz="1400" b="1" i="0">
                <a:solidFill>
                  <a:srgbClr val="FF743B"/>
                </a:solidFill>
                <a:latin typeface="Calibri"/>
              </a:rPr>
              <a:t>● </a:t>
            </a:r>
            <a:r>
              <a:rPr sz="1400" b="0" i="0">
                <a:solidFill>
                  <a:srgbClr val="1D1D30"/>
                </a:solidFill>
                <a:latin typeface="Calibri"/>
              </a:rPr>
              <a:t/>
            </a:r>
          </a:p>
          <a:p>
            <a:pPr algn="l">
              <a:lnSpc>
                <a:spcPct val="130000"/>
              </a:lnSpc>
            </a:pPr>
            <a:r>
              <a:rPr sz="1400" b="1" i="0">
                <a:solidFill>
                  <a:srgbClr val="FF743B"/>
                </a:solidFill>
                <a:latin typeface="Calibri"/>
              </a:rPr>
              <a:t>● </a:t>
            </a:r>
            <a:r>
              <a:rPr sz="1400" b="0" i="0">
                <a:solidFill>
                  <a:srgbClr val="1D1D30"/>
                </a:solidFill>
                <a:latin typeface="Calibri"/>
              </a:rPr>
              <a:t>Resultado:</a:t>
            </a:r>
          </a:p>
          <a:p>
            <a:pPr algn="l">
              <a:lnSpc>
                <a:spcPct val="130000"/>
              </a:lnSpc>
            </a:pPr>
            <a:r>
              <a:rPr sz="1400" b="1" i="0">
                <a:solidFill>
                  <a:srgbClr val="FF743B"/>
                </a:solidFill>
                <a:latin typeface="Calibri"/>
              </a:rPr>
              <a:t>● </a:t>
            </a:r>
            <a:r>
              <a:rPr sz="1400" b="0" i="0">
                <a:solidFill>
                  <a:srgbClr val="1D1D30"/>
                </a:solidFill>
                <a:latin typeface="Calibri"/>
              </a:rPr>
              <a:t>Email genérico, tono neutro raro, sin detalles, sin firma, formato impredecible</a:t>
            </a:r>
          </a:p>
        </p:txBody>
      </p:sp>
      <p:sp>
        <p:nvSpPr>
          <p:cNvPr id="11" name="Rectangle 10"/>
          <p:cNvSpPr/>
          <p:nvPr/>
        </p:nvSpPr>
        <p:spPr>
          <a:xfrm>
            <a:off x="4709160" y="1463040"/>
            <a:ext cx="4023360" cy="41148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1463040"/>
            <a:ext cx="4023360" cy="411480"/>
          </a:xfrm>
          <a:prstGeom prst="rect">
            <a:avLst/>
          </a:prstGeom>
          <a:noFill/>
        </p:spPr>
        <p:txBody>
          <a:bodyPr wrap="square" lIns="25400" rIns="25400" tIns="25400" bIns="25400" anchor="ctr">
            <a:spAutoFit/>
          </a:bodyPr>
          <a:lstStyle/>
          <a:p>
            <a:pPr algn="ctr"/>
            <a:r>
              <a:rPr sz="1600" b="1" i="0">
                <a:solidFill>
                  <a:srgbClr val="FFFFFF"/>
                </a:solidFill>
                <a:latin typeface="Calibri"/>
              </a:rPr>
              <a:t>Prompt potente</a:t>
            </a:r>
          </a:p>
        </p:txBody>
      </p:sp>
      <p:sp>
        <p:nvSpPr>
          <p:cNvPr id="13" name="TextBox 12"/>
          <p:cNvSpPr txBox="1"/>
          <p:nvPr/>
        </p:nvSpPr>
        <p:spPr>
          <a:xfrm>
            <a:off x="4800600" y="1965960"/>
            <a:ext cx="3931920" cy="2743200"/>
          </a:xfrm>
          <a:prstGeom prst="rect">
            <a:avLst/>
          </a:prstGeom>
          <a:noFill/>
        </p:spPr>
        <p:txBody>
          <a:bodyPr wrap="square" lIns="25400" rIns="25400" tIns="25400" bIns="25400" anchor="t">
            <a:spAutoFit/>
          </a:bodyPr>
          <a:lstStyle/>
          <a:p>
            <a:pPr algn="l">
              <a:lnSpc>
                <a:spcPct val="130000"/>
              </a:lnSpc>
            </a:pPr>
            <a:r>
              <a:rPr sz="1400" b="1" i="0">
                <a:solidFill>
                  <a:srgbClr val="1D1D30"/>
                </a:solidFill>
                <a:latin typeface="Calibri"/>
              </a:rPr>
              <a:t>● </a:t>
            </a:r>
            <a:r>
              <a:rPr sz="1400" b="0" i="0">
                <a:solidFill>
                  <a:srgbClr val="1D1D30"/>
                </a:solidFill>
                <a:latin typeface="Calibri"/>
              </a:rPr>
              <a:t>«Eres responsable de atención al cliente en una tienda online de moda. Un cliente reclama porque su pedido llegó dañado. Redacta un email empático, en español de España, máximo 120 palabras, ofreciendo reembolso o reenvío gratuito»</a:t>
            </a:r>
          </a:p>
          <a:p>
            <a:pPr algn="l">
              <a:lnSpc>
                <a:spcPct val="130000"/>
              </a:lnSpc>
            </a:pPr>
            <a:r>
              <a:rPr sz="1400" b="1" i="0">
                <a:solidFill>
                  <a:srgbClr val="1D1D30"/>
                </a:solidFill>
                <a:latin typeface="Calibri"/>
              </a:rPr>
              <a:t>● </a:t>
            </a:r>
            <a:r>
              <a:rPr sz="1400" b="0" i="0">
                <a:solidFill>
                  <a:srgbClr val="1D1D30"/>
                </a:solidFill>
                <a:latin typeface="Calibri"/>
              </a:rPr>
              <a:t/>
            </a:r>
          </a:p>
          <a:p>
            <a:pPr algn="l">
              <a:lnSpc>
                <a:spcPct val="130000"/>
              </a:lnSpc>
            </a:pPr>
            <a:r>
              <a:rPr sz="1400" b="1" i="0">
                <a:solidFill>
                  <a:srgbClr val="1D1D30"/>
                </a:solidFill>
                <a:latin typeface="Calibri"/>
              </a:rPr>
              <a:t>● </a:t>
            </a:r>
            <a:r>
              <a:rPr sz="1400" b="0" i="0">
                <a:solidFill>
                  <a:srgbClr val="1D1D30"/>
                </a:solidFill>
                <a:latin typeface="Calibri"/>
              </a:rPr>
              <a:t>Resultado: email listo para mandar</a:t>
            </a:r>
          </a:p>
        </p:txBody>
      </p:sp>
      <p:sp>
        <p:nvSpPr>
          <p:cNvPr id="14" name="Rectangle 13"/>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000" b="1" i="0">
                <a:solidFill>
                  <a:srgbClr val="1D1D30"/>
                </a:solidFill>
                <a:latin typeface="Calibri"/>
              </a:rPr>
              <a:t>El framework que aprenderás hoy</a:t>
            </a:r>
          </a:p>
        </p:txBody>
      </p:sp>
      <p:sp>
        <p:nvSpPr>
          <p:cNvPr id="8" name="Rectangle 7"/>
          <p:cNvSpPr/>
          <p:nvPr/>
        </p:nvSpPr>
        <p:spPr>
          <a:xfrm>
            <a:off x="640080" y="1554480"/>
            <a:ext cx="7863840" cy="14630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54480"/>
            <a:ext cx="7498079" cy="1463040"/>
          </a:xfrm>
          <a:prstGeom prst="rect">
            <a:avLst/>
          </a:prstGeom>
          <a:noFill/>
        </p:spPr>
        <p:txBody>
          <a:bodyPr wrap="square" lIns="25400" rIns="25400" tIns="25400" bIns="25400" anchor="ctr">
            <a:spAutoFit/>
          </a:bodyPr>
          <a:lstStyle/>
          <a:p>
            <a:pPr algn="ctr">
              <a:lnSpc>
                <a:spcPct val="120000"/>
              </a:lnSpc>
            </a:pPr>
            <a:r>
              <a:rPr sz="2400" b="1" i="0">
                <a:solidFill>
                  <a:srgbClr val="FFFFFF"/>
                </a:solidFill>
                <a:latin typeface="Calibri"/>
              </a:rPr>
              <a:t>CO-STAR</a:t>
            </a:r>
          </a:p>
          <a:p>
            <a:pPr algn="ctr">
              <a:lnSpc>
                <a:spcPct val="120000"/>
              </a:lnSpc>
            </a:pPr>
            <a:r>
              <a:rPr sz="2400" b="1" i="0">
                <a:solidFill>
                  <a:srgbClr val="FFFFFF"/>
                </a:solidFill>
                <a:latin typeface="Calibri"/>
              </a:rPr>
              <a:t>Contexto · Objetivo · Estilo · Tono · Audiencia · Respuesta</a:t>
            </a:r>
          </a:p>
        </p:txBody>
      </p:sp>
      <p:sp>
        <p:nvSpPr>
          <p:cNvPr id="10" name="TextBox 9"/>
          <p:cNvSpPr txBox="1"/>
          <p:nvPr/>
        </p:nvSpPr>
        <p:spPr>
          <a:xfrm>
            <a:off x="640080" y="3383280"/>
            <a:ext cx="7863840" cy="1371600"/>
          </a:xfrm>
          <a:prstGeom prst="rect">
            <a:avLst/>
          </a:prstGeom>
          <a:noFill/>
        </p:spPr>
        <p:txBody>
          <a:bodyPr wrap="square" lIns="25400" rIns="25400" tIns="25400" bIns="25400" anchor="t">
            <a:spAutoFit/>
          </a:bodyPr>
          <a:lstStyle/>
          <a:p>
            <a:pPr algn="l">
              <a:lnSpc>
                <a:spcPct val="130000"/>
              </a:lnSpc>
            </a:pPr>
            <a:r>
              <a:rPr sz="1600" b="1" i="0">
                <a:solidFill>
                  <a:srgbClr val="FF743B"/>
                </a:solidFill>
                <a:latin typeface="Calibri"/>
              </a:rPr>
              <a:t>● </a:t>
            </a:r>
            <a:r>
              <a:rPr sz="1600" b="0" i="0">
                <a:solidFill>
                  <a:srgbClr val="1D1D30"/>
                </a:solidFill>
                <a:latin typeface="Calibri"/>
              </a:rPr>
              <a:t>Creado por Sheila Teo (GovTech Singapur)</a:t>
            </a:r>
          </a:p>
          <a:p>
            <a:pPr algn="l">
              <a:lnSpc>
                <a:spcPct val="130000"/>
              </a:lnSpc>
            </a:pPr>
            <a:r>
              <a:rPr sz="1600" b="1" i="0">
                <a:solidFill>
                  <a:srgbClr val="FF743B"/>
                </a:solidFill>
                <a:latin typeface="Calibri"/>
              </a:rPr>
              <a:t>● </a:t>
            </a:r>
            <a:r>
              <a:rPr sz="1600" b="0" i="0">
                <a:solidFill>
                  <a:srgbClr val="1D1D30"/>
                </a:solidFill>
                <a:latin typeface="Calibri"/>
              </a:rPr>
              <a:t>Ganó la primera competición pública de prompt engineering en GPT-4</a:t>
            </a:r>
          </a:p>
          <a:p>
            <a:pPr algn="l">
              <a:lnSpc>
                <a:spcPct val="130000"/>
              </a:lnSpc>
            </a:pPr>
            <a:r>
              <a:rPr sz="1600" b="1" i="0">
                <a:solidFill>
                  <a:srgbClr val="FF743B"/>
                </a:solidFill>
                <a:latin typeface="Calibri"/>
              </a:rPr>
              <a:t>● </a:t>
            </a:r>
            <a:r>
              <a:rPr sz="1600" b="0" i="0">
                <a:solidFill>
                  <a:srgbClr val="1D1D30"/>
                </a:solidFill>
                <a:latin typeface="Calibri"/>
              </a:rPr>
              <a:t>Sirve para 90% de los casos profesionales</a:t>
            </a:r>
          </a:p>
          <a:p>
            <a:pPr algn="l">
              <a:lnSpc>
                <a:spcPct val="130000"/>
              </a:lnSpc>
            </a:pPr>
            <a:r>
              <a:rPr sz="1600" b="1" i="0">
                <a:solidFill>
                  <a:srgbClr val="FF743B"/>
                </a:solidFill>
                <a:latin typeface="Calibri"/>
              </a:rPr>
              <a:t>● </a:t>
            </a:r>
            <a:r>
              <a:rPr sz="1600" b="0" i="0">
                <a:solidFill>
                  <a:srgbClr val="1D1D30"/>
                </a:solidFill>
                <a:latin typeface="Calibri"/>
              </a:rPr>
              <a:t>Cuando lo dominas, el resto de frameworks son variantes</a:t>
            </a:r>
          </a:p>
        </p:txBody>
      </p:sp>
      <p:sp>
        <p:nvSpPr>
          <p:cNvPr id="11" name="Rectangle 10"/>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200" b="1" i="0">
                <a:solidFill>
                  <a:srgbClr val="1D1D30"/>
                </a:solidFill>
                <a:latin typeface="Calibri"/>
              </a:rPr>
              <a:t>CO-STAR pieza a pieza</a:t>
            </a:r>
          </a:p>
        </p:txBody>
      </p:sp>
      <p:sp>
        <p:nvSpPr>
          <p:cNvPr id="8" name="TextBox 7"/>
          <p:cNvSpPr txBox="1"/>
          <p:nvPr/>
        </p:nvSpPr>
        <p:spPr>
          <a:xfrm>
            <a:off x="411480" y="1417320"/>
            <a:ext cx="8229600" cy="3383280"/>
          </a:xfrm>
          <a:prstGeom prst="rect">
            <a:avLst/>
          </a:prstGeom>
          <a:noFill/>
        </p:spPr>
        <p:txBody>
          <a:bodyPr wrap="square" lIns="25400" rIns="25400" tIns="25400" bIns="25400" anchor="t">
            <a:spAutoFit/>
          </a:bodyPr>
          <a:lstStyle/>
          <a:p>
            <a:pPr algn="l">
              <a:lnSpc>
                <a:spcPct val="135000"/>
              </a:lnSpc>
            </a:pPr>
            <a:r>
              <a:rPr sz="1700" b="1" i="0">
                <a:solidFill>
                  <a:srgbClr val="FF743B"/>
                </a:solidFill>
                <a:latin typeface="Calibri"/>
              </a:rPr>
              <a:t>● </a:t>
            </a:r>
            <a:r>
              <a:rPr sz="1700" b="1" i="0">
                <a:solidFill>
                  <a:srgbClr val="1D1D30"/>
                </a:solidFill>
                <a:latin typeface="Calibri"/>
              </a:rPr>
              <a:t>Context (contexto)</a:t>
            </a:r>
            <a:r>
              <a:rPr sz="1700" b="0" i="0">
                <a:solidFill>
                  <a:srgbClr val="1D1D30"/>
                </a:solidFill>
                <a:latin typeface="Calibri"/>
              </a:rPr>
              <a:t>: información de fondo, situación, datos relevantes</a:t>
            </a:r>
          </a:p>
          <a:p>
            <a:pPr algn="l">
              <a:lnSpc>
                <a:spcPct val="135000"/>
              </a:lnSpc>
            </a:pPr>
            <a:r>
              <a:rPr sz="1700" b="1" i="0">
                <a:solidFill>
                  <a:srgbClr val="FF743B"/>
                </a:solidFill>
                <a:latin typeface="Calibri"/>
              </a:rPr>
              <a:t>● </a:t>
            </a:r>
            <a:r>
              <a:rPr sz="1700" b="1" i="0">
                <a:solidFill>
                  <a:srgbClr val="1D1D30"/>
                </a:solidFill>
                <a:latin typeface="Calibri"/>
              </a:rPr>
              <a:t>Objective (objetivo)</a:t>
            </a:r>
            <a:r>
              <a:rPr sz="1700" b="0" i="0">
                <a:solidFill>
                  <a:srgbClr val="1D1D30"/>
                </a:solidFill>
                <a:latin typeface="Calibri"/>
              </a:rPr>
              <a:t>: qué quieres exactamente que haga</a:t>
            </a:r>
          </a:p>
          <a:p>
            <a:pPr algn="l">
              <a:lnSpc>
                <a:spcPct val="135000"/>
              </a:lnSpc>
            </a:pPr>
            <a:r>
              <a:rPr sz="1700" b="1" i="0">
                <a:solidFill>
                  <a:srgbClr val="FF743B"/>
                </a:solidFill>
                <a:latin typeface="Calibri"/>
              </a:rPr>
              <a:t>● </a:t>
            </a:r>
            <a:r>
              <a:rPr sz="1700" b="1" i="0">
                <a:solidFill>
                  <a:srgbClr val="1D1D30"/>
                </a:solidFill>
                <a:latin typeface="Calibri"/>
              </a:rPr>
              <a:t>Style (estilo)</a:t>
            </a:r>
            <a:r>
              <a:rPr sz="1700" b="0" i="0">
                <a:solidFill>
                  <a:srgbClr val="1D1D30"/>
                </a:solidFill>
                <a:latin typeface="Calibri"/>
              </a:rPr>
              <a:t>: técnico, divulgativo, periodístico, académico…</a:t>
            </a:r>
          </a:p>
          <a:p>
            <a:pPr algn="l">
              <a:lnSpc>
                <a:spcPct val="135000"/>
              </a:lnSpc>
            </a:pPr>
            <a:r>
              <a:rPr sz="1700" b="1" i="0">
                <a:solidFill>
                  <a:srgbClr val="FF743B"/>
                </a:solidFill>
                <a:latin typeface="Calibri"/>
              </a:rPr>
              <a:t>● </a:t>
            </a:r>
            <a:r>
              <a:rPr sz="1700" b="1" i="0">
                <a:solidFill>
                  <a:srgbClr val="1D1D30"/>
                </a:solidFill>
                <a:latin typeface="Calibri"/>
              </a:rPr>
              <a:t>Tone (tono)</a:t>
            </a:r>
            <a:r>
              <a:rPr sz="1700" b="0" i="0">
                <a:solidFill>
                  <a:srgbClr val="1D1D30"/>
                </a:solidFill>
                <a:latin typeface="Calibri"/>
              </a:rPr>
              <a:t>: cercano, formal, urgente, empático, neutral…</a:t>
            </a:r>
          </a:p>
          <a:p>
            <a:pPr algn="l">
              <a:lnSpc>
                <a:spcPct val="135000"/>
              </a:lnSpc>
            </a:pPr>
            <a:r>
              <a:rPr sz="1700" b="1" i="0">
                <a:solidFill>
                  <a:srgbClr val="FF743B"/>
                </a:solidFill>
                <a:latin typeface="Calibri"/>
              </a:rPr>
              <a:t>● </a:t>
            </a:r>
            <a:r>
              <a:rPr sz="1700" b="1" i="0">
                <a:solidFill>
                  <a:srgbClr val="1D1D30"/>
                </a:solidFill>
                <a:latin typeface="Calibri"/>
              </a:rPr>
              <a:t>Audience (audiencia)</a:t>
            </a:r>
            <a:r>
              <a:rPr sz="1700" b="0" i="0">
                <a:solidFill>
                  <a:srgbClr val="1D1D30"/>
                </a:solidFill>
                <a:latin typeface="Calibri"/>
              </a:rPr>
              <a:t>: para quién: nivel, rol, idioma, edad</a:t>
            </a:r>
          </a:p>
          <a:p>
            <a:pPr algn="l">
              <a:lnSpc>
                <a:spcPct val="135000"/>
              </a:lnSpc>
            </a:pPr>
            <a:r>
              <a:rPr sz="1700" b="1" i="0">
                <a:solidFill>
                  <a:srgbClr val="FF743B"/>
                </a:solidFill>
                <a:latin typeface="Calibri"/>
              </a:rPr>
              <a:t>● </a:t>
            </a:r>
            <a:r>
              <a:rPr sz="1700" b="1" i="0">
                <a:solidFill>
                  <a:srgbClr val="1D1D30"/>
                </a:solidFill>
                <a:latin typeface="Calibri"/>
              </a:rPr>
              <a:t>Response (respuesta)</a:t>
            </a:r>
            <a:r>
              <a:rPr sz="1700" b="0" i="0">
                <a:solidFill>
                  <a:srgbClr val="1D1D30"/>
                </a:solidFill>
                <a:latin typeface="Calibri"/>
              </a:rPr>
              <a:t>: formato exigido: JSON, lista, longitud, tabla</a:t>
            </a:r>
          </a:p>
        </p:txBody>
      </p:sp>
      <p:sp>
        <p:nvSpPr>
          <p:cNvPr id="9" name="Rectangle 8"/>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365760"/>
            <a:ext cx="8229600" cy="502920"/>
          </a:xfrm>
          <a:prstGeom prst="rect">
            <a:avLst/>
          </a:prstGeom>
          <a:noFill/>
        </p:spPr>
        <p:txBody>
          <a:bodyPr wrap="square" lIns="25400" rIns="25400" tIns="25400" bIns="25400" anchor="t">
            <a:spAutoFit/>
          </a:bodyPr>
          <a:lstStyle/>
          <a:p>
            <a:pPr algn="l"/>
            <a:r>
              <a:rPr sz="2200" b="1" i="0">
                <a:solidFill>
                  <a:srgbClr val="1D1D30"/>
                </a:solidFill>
                <a:latin typeface="Calibri"/>
              </a:rPr>
              <a:t>CO-STAR en acción</a:t>
            </a:r>
          </a:p>
        </p:txBody>
      </p:sp>
      <p:sp>
        <p:nvSpPr>
          <p:cNvPr id="8" name="Rectangle 7"/>
          <p:cNvSpPr/>
          <p:nvPr/>
        </p:nvSpPr>
        <p:spPr>
          <a:xfrm>
            <a:off x="411480" y="960120"/>
            <a:ext cx="8321040" cy="365760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960120"/>
            <a:ext cx="82296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960120"/>
            <a:ext cx="822960" cy="274320"/>
          </a:xfrm>
          <a:prstGeom prst="rect">
            <a:avLst/>
          </a:prstGeom>
          <a:noFill/>
        </p:spPr>
        <p:txBody>
          <a:bodyPr wrap="square" lIns="25400" rIns="25400" tIns="25400" bIns="25400" anchor="ctr">
            <a:spAutoFit/>
          </a:bodyPr>
          <a:lstStyle/>
          <a:p>
            <a:pPr algn="ctr"/>
            <a:r>
              <a:rPr sz="1100" b="1" i="0">
                <a:solidFill>
                  <a:srgbClr val="FFFFFF"/>
                </a:solidFill>
                <a:latin typeface="Calibri"/>
              </a:rPr>
              <a:t>prompt</a:t>
            </a:r>
          </a:p>
        </p:txBody>
      </p:sp>
      <p:sp>
        <p:nvSpPr>
          <p:cNvPr id="11" name="TextBox 10"/>
          <p:cNvSpPr txBox="1"/>
          <p:nvPr/>
        </p:nvSpPr>
        <p:spPr>
          <a:xfrm>
            <a:off x="594360" y="1325880"/>
            <a:ext cx="8001000" cy="3200400"/>
          </a:xfrm>
          <a:prstGeom prst="rect">
            <a:avLst/>
          </a:prstGeom>
          <a:noFill/>
        </p:spPr>
        <p:txBody>
          <a:bodyPr wrap="square" lIns="25400" rIns="25400" tIns="25400" bIns="25400" anchor="t">
            <a:spAutoFit/>
          </a:bodyPr>
          <a:lstStyle/>
          <a:p>
            <a:pPr algn="l">
              <a:lnSpc>
                <a:spcPct val="110000"/>
              </a:lnSpc>
            </a:pPr>
            <a:r>
              <a:rPr sz="1100" b="0" i="0">
                <a:solidFill>
                  <a:srgbClr val="FFFFFF"/>
                </a:solidFill>
                <a:latin typeface="Consolas"/>
              </a:rPr>
              <a:t># CONTEXTO #</a:t>
            </a:r>
          </a:p>
          <a:p>
            <a:pPr algn="l">
              <a:lnSpc>
                <a:spcPct val="110000"/>
              </a:lnSpc>
            </a:pPr>
            <a:r>
              <a:rPr sz="1100" b="0" i="0">
                <a:solidFill>
                  <a:srgbClr val="FFFFFF"/>
                </a:solidFill>
                <a:latin typeface="Consolas"/>
              </a:rPr>
              <a:t>Soy directora de innovación en una empresa de retail.</a:t>
            </a:r>
          </a:p>
          <a:p>
            <a:pPr algn="l">
              <a:lnSpc>
                <a:spcPct val="110000"/>
              </a:lnSpc>
            </a:pPr>
            <a:r>
              <a:rPr sz="1100" b="0" i="0">
                <a:solidFill>
                  <a:srgbClr val="FFFFFF"/>
                </a:solidFill>
                <a:latin typeface="Consolas"/>
              </a:rPr>
              <a:t>Quiero presentar un piloto con IA al comité.</a:t>
            </a:r>
          </a:p>
          <a:p>
            <a:pPr algn="l">
              <a:lnSpc>
                <a:spcPct val="110000"/>
              </a:lnSpc>
            </a:pPr>
            <a:r>
              <a:rPr sz="1100" b="0" i="0">
                <a:solidFill>
                  <a:srgbClr val="FFFFFF"/>
                </a:solidFill>
                <a:latin typeface="Consolas"/>
              </a:rPr>
              <a:t># OBJETIVO #</a:t>
            </a:r>
          </a:p>
          <a:p>
            <a:pPr algn="l">
              <a:lnSpc>
                <a:spcPct val="110000"/>
              </a:lnSpc>
            </a:pPr>
            <a:r>
              <a:rPr sz="1100" b="0" i="0">
                <a:solidFill>
                  <a:srgbClr val="FFFFFF"/>
                </a:solidFill>
                <a:latin typeface="Consolas"/>
              </a:rPr>
              <a:t>Redacta un resumen ejecutivo que justifique escalarlo.</a:t>
            </a:r>
          </a:p>
          <a:p>
            <a:pPr algn="l">
              <a:lnSpc>
                <a:spcPct val="110000"/>
              </a:lnSpc>
            </a:pPr>
            <a:r>
              <a:rPr sz="1100" b="0" i="0">
                <a:solidFill>
                  <a:srgbClr val="FFFFFF"/>
                </a:solidFill>
                <a:latin typeface="Consolas"/>
              </a:rPr>
              <a:t># ESTILO #</a:t>
            </a:r>
          </a:p>
          <a:p>
            <a:pPr algn="l">
              <a:lnSpc>
                <a:spcPct val="110000"/>
              </a:lnSpc>
            </a:pPr>
            <a:r>
              <a:rPr sz="1100" b="0" i="0">
                <a:solidFill>
                  <a:srgbClr val="FFFFFF"/>
                </a:solidFill>
                <a:latin typeface="Consolas"/>
              </a:rPr>
              <a:t>Estilo McKinsey: directo, basado en datos.</a:t>
            </a:r>
          </a:p>
          <a:p>
            <a:pPr algn="l">
              <a:lnSpc>
                <a:spcPct val="110000"/>
              </a:lnSpc>
            </a:pPr>
            <a:r>
              <a:rPr sz="1100" b="0" i="0">
                <a:solidFill>
                  <a:srgbClr val="FFFFFF"/>
                </a:solidFill>
                <a:latin typeface="Consolas"/>
              </a:rPr>
              <a:t># TONO #</a:t>
            </a:r>
          </a:p>
          <a:p>
            <a:pPr algn="l">
              <a:lnSpc>
                <a:spcPct val="110000"/>
              </a:lnSpc>
            </a:pPr>
            <a:r>
              <a:rPr sz="1100" b="0" i="0">
                <a:solidFill>
                  <a:srgbClr val="FFFFFF"/>
                </a:solidFill>
                <a:latin typeface="Consolas"/>
              </a:rPr>
              <a:t>Profesional, realista.</a:t>
            </a:r>
          </a:p>
          <a:p>
            <a:pPr algn="l">
              <a:lnSpc>
                <a:spcPct val="110000"/>
              </a:lnSpc>
            </a:pPr>
            <a:r>
              <a:rPr sz="1100" b="0" i="0">
                <a:solidFill>
                  <a:srgbClr val="FFFFFF"/>
                </a:solidFill>
                <a:latin typeface="Consolas"/>
              </a:rPr>
              <a:t># AUDIENCIA #</a:t>
            </a:r>
          </a:p>
          <a:p>
            <a:pPr algn="l">
              <a:lnSpc>
                <a:spcPct val="110000"/>
              </a:lnSpc>
            </a:pPr>
            <a:r>
              <a:rPr sz="1100" b="0" i="0">
                <a:solidFill>
                  <a:srgbClr val="FFFFFF"/>
                </a:solidFill>
                <a:latin typeface="Consolas"/>
              </a:rPr>
              <a:t>Comité no técnico, foco en P&amp;L.</a:t>
            </a:r>
          </a:p>
          <a:p>
            <a:pPr algn="l">
              <a:lnSpc>
                <a:spcPct val="110000"/>
              </a:lnSpc>
            </a:pPr>
            <a:r>
              <a:rPr sz="1100" b="0" i="0">
                <a:solidFill>
                  <a:srgbClr val="FFFFFF"/>
                </a:solidFill>
                <a:latin typeface="Consolas"/>
              </a:rPr>
              <a:t># RESPUESTA #</a:t>
            </a:r>
          </a:p>
          <a:p>
            <a:pPr algn="l">
              <a:lnSpc>
                <a:spcPct val="110000"/>
              </a:lnSpc>
            </a:pPr>
            <a:r>
              <a:rPr sz="1100" b="0" i="0">
                <a:solidFill>
                  <a:srgbClr val="FFFFFF"/>
                </a:solidFill>
                <a:latin typeface="Consolas"/>
              </a:rPr>
              <a:t>Máx. 250 palabras: headline + 3 resultados + 2 riesgos.</a:t>
            </a:r>
          </a:p>
        </p:txBody>
      </p:sp>
      <p:sp>
        <p:nvSpPr>
          <p:cNvPr id="12" name="TextBox 11"/>
          <p:cNvSpPr txBox="1"/>
          <p:nvPr/>
        </p:nvSpPr>
        <p:spPr>
          <a:xfrm>
            <a:off x="411480" y="4663440"/>
            <a:ext cx="8321040" cy="228600"/>
          </a:xfrm>
          <a:prstGeom prst="rect">
            <a:avLst/>
          </a:prstGeom>
          <a:noFill/>
        </p:spPr>
        <p:txBody>
          <a:bodyPr wrap="square" lIns="25400" rIns="25400" tIns="25400" bIns="25400" anchor="t">
            <a:spAutoFit/>
          </a:bodyPr>
          <a:lstStyle/>
          <a:p>
            <a:pPr algn="l"/>
            <a:r>
              <a:rPr sz="1000" b="0" i="1">
                <a:solidFill>
                  <a:srgbClr val="808095"/>
                </a:solidFill>
                <a:latin typeface="Calibri"/>
              </a:rPr>
              <a:t>Plantilla copiable: rellena los seis campos para cualquier caso profesional</a:t>
            </a:r>
          </a:p>
        </p:txBody>
      </p:sp>
      <p:sp>
        <p:nvSpPr>
          <p:cNvPr id="13" name="Rectangle 12"/>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2800" b="1" i="0">
                <a:solidFill>
                  <a:srgbClr val="1D1D30"/>
                </a:solidFill>
                <a:latin typeface="Calibri"/>
              </a:rPr>
              <a:t>Otros frameworks (úsalos según el caso)</a:t>
            </a:r>
          </a:p>
        </p:txBody>
      </p:sp>
      <p:sp>
        <p:nvSpPr>
          <p:cNvPr id="8" name="Rectangle 7"/>
          <p:cNvSpPr/>
          <p:nvPr/>
        </p:nvSpPr>
        <p:spPr>
          <a:xfrm>
            <a:off x="411480" y="1463040"/>
            <a:ext cx="8321040" cy="45720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463040"/>
            <a:ext cx="2773680" cy="457200"/>
          </a:xfrm>
          <a:prstGeom prst="rect">
            <a:avLst/>
          </a:prstGeom>
          <a:noFill/>
        </p:spPr>
        <p:txBody>
          <a:bodyPr wrap="square" lIns="25400" rIns="25400" tIns="25400" bIns="25400" anchor="ctr">
            <a:spAutoFit/>
          </a:bodyPr>
          <a:lstStyle/>
          <a:p>
            <a:pPr algn="ctr"/>
            <a:r>
              <a:rPr sz="1400" b="1" i="0">
                <a:solidFill>
                  <a:srgbClr val="FFFFFF"/>
                </a:solidFill>
                <a:latin typeface="Calibri"/>
              </a:rPr>
              <a:t>Framework</a:t>
            </a:r>
          </a:p>
        </p:txBody>
      </p:sp>
      <p:sp>
        <p:nvSpPr>
          <p:cNvPr id="10" name="TextBox 9"/>
          <p:cNvSpPr txBox="1"/>
          <p:nvPr/>
        </p:nvSpPr>
        <p:spPr>
          <a:xfrm>
            <a:off x="3185160" y="1463040"/>
            <a:ext cx="2773680" cy="457200"/>
          </a:xfrm>
          <a:prstGeom prst="rect">
            <a:avLst/>
          </a:prstGeom>
          <a:noFill/>
        </p:spPr>
        <p:txBody>
          <a:bodyPr wrap="square" lIns="25400" rIns="25400" tIns="25400" bIns="25400" anchor="ctr">
            <a:spAutoFit/>
          </a:bodyPr>
          <a:lstStyle/>
          <a:p>
            <a:pPr algn="ctr"/>
            <a:r>
              <a:rPr sz="1400" b="1" i="0">
                <a:solidFill>
                  <a:srgbClr val="FFFFFF"/>
                </a:solidFill>
                <a:latin typeface="Calibri"/>
              </a:rPr>
              <a:t>Componentes</a:t>
            </a:r>
          </a:p>
        </p:txBody>
      </p:sp>
      <p:sp>
        <p:nvSpPr>
          <p:cNvPr id="11" name="TextBox 10"/>
          <p:cNvSpPr txBox="1"/>
          <p:nvPr/>
        </p:nvSpPr>
        <p:spPr>
          <a:xfrm>
            <a:off x="5958840" y="1463040"/>
            <a:ext cx="2773680" cy="457200"/>
          </a:xfrm>
          <a:prstGeom prst="rect">
            <a:avLst/>
          </a:prstGeom>
          <a:noFill/>
        </p:spPr>
        <p:txBody>
          <a:bodyPr wrap="square" lIns="25400" rIns="25400" tIns="25400" bIns="25400" anchor="ctr">
            <a:spAutoFit/>
          </a:bodyPr>
          <a:lstStyle/>
          <a:p>
            <a:pPr algn="ctr"/>
            <a:r>
              <a:rPr sz="1400" b="1" i="0">
                <a:solidFill>
                  <a:srgbClr val="FFFFFF"/>
                </a:solidFill>
                <a:latin typeface="Calibri"/>
              </a:rPr>
              <a:t>Cuándo</a:t>
            </a:r>
          </a:p>
        </p:txBody>
      </p:sp>
      <p:sp>
        <p:nvSpPr>
          <p:cNvPr id="12" name="Rectangle 11"/>
          <p:cNvSpPr/>
          <p:nvPr/>
        </p:nvSpPr>
        <p:spPr>
          <a:xfrm>
            <a:off x="411480" y="1920240"/>
            <a:ext cx="83210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920240"/>
            <a:ext cx="2773680" cy="411480"/>
          </a:xfrm>
          <a:prstGeom prst="rect">
            <a:avLst/>
          </a:prstGeom>
          <a:noFill/>
        </p:spPr>
        <p:txBody>
          <a:bodyPr wrap="square" lIns="25400" rIns="25400" tIns="25400" bIns="25400" anchor="ctr">
            <a:spAutoFit/>
          </a:bodyPr>
          <a:lstStyle/>
          <a:p>
            <a:pPr algn="l"/>
            <a:r>
              <a:rPr sz="1100" b="1" i="0">
                <a:solidFill>
                  <a:srgbClr val="1D1D30"/>
                </a:solidFill>
                <a:latin typeface="Calibri"/>
              </a:rPr>
              <a:t>RTF</a:t>
            </a:r>
          </a:p>
        </p:txBody>
      </p:sp>
      <p:sp>
        <p:nvSpPr>
          <p:cNvPr id="14" name="TextBox 13"/>
          <p:cNvSpPr txBox="1"/>
          <p:nvPr/>
        </p:nvSpPr>
        <p:spPr>
          <a:xfrm>
            <a:off x="3230880" y="1920240"/>
            <a:ext cx="277368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Role · Task · Format</a:t>
            </a:r>
          </a:p>
        </p:txBody>
      </p:sp>
      <p:sp>
        <p:nvSpPr>
          <p:cNvPr id="15" name="TextBox 14"/>
          <p:cNvSpPr txBox="1"/>
          <p:nvPr/>
        </p:nvSpPr>
        <p:spPr>
          <a:xfrm>
            <a:off x="6004560" y="1920240"/>
            <a:ext cx="277368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Tareas rápidas, atajos</a:t>
            </a:r>
          </a:p>
        </p:txBody>
      </p:sp>
      <p:sp>
        <p:nvSpPr>
          <p:cNvPr id="16" name="Rectangle 15"/>
          <p:cNvSpPr/>
          <p:nvPr/>
        </p:nvSpPr>
        <p:spPr>
          <a:xfrm>
            <a:off x="411480" y="2331720"/>
            <a:ext cx="8321040" cy="411480"/>
          </a:xfrm>
          <a:prstGeom prst="rect">
            <a:avLst/>
          </a:prstGeom>
          <a:solidFill>
            <a:srgbClr val="F0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331720"/>
            <a:ext cx="2773680" cy="411480"/>
          </a:xfrm>
          <a:prstGeom prst="rect">
            <a:avLst/>
          </a:prstGeom>
          <a:noFill/>
        </p:spPr>
        <p:txBody>
          <a:bodyPr wrap="square" lIns="25400" rIns="25400" tIns="25400" bIns="25400" anchor="ctr">
            <a:spAutoFit/>
          </a:bodyPr>
          <a:lstStyle/>
          <a:p>
            <a:pPr algn="l"/>
            <a:r>
              <a:rPr sz="1100" b="1" i="0">
                <a:solidFill>
                  <a:srgbClr val="1D1D30"/>
                </a:solidFill>
                <a:latin typeface="Calibri"/>
              </a:rPr>
              <a:t>RISEN</a:t>
            </a:r>
          </a:p>
        </p:txBody>
      </p:sp>
      <p:sp>
        <p:nvSpPr>
          <p:cNvPr id="18" name="TextBox 17"/>
          <p:cNvSpPr txBox="1"/>
          <p:nvPr/>
        </p:nvSpPr>
        <p:spPr>
          <a:xfrm>
            <a:off x="3230880" y="2331720"/>
            <a:ext cx="277368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Role · Input · Steps · Expectation · Novelty</a:t>
            </a:r>
          </a:p>
        </p:txBody>
      </p:sp>
      <p:sp>
        <p:nvSpPr>
          <p:cNvPr id="19" name="TextBox 18"/>
          <p:cNvSpPr txBox="1"/>
          <p:nvPr/>
        </p:nvSpPr>
        <p:spPr>
          <a:xfrm>
            <a:off x="6004560" y="2331720"/>
            <a:ext cx="277368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Procesos multi-paso</a:t>
            </a:r>
          </a:p>
        </p:txBody>
      </p:sp>
      <p:sp>
        <p:nvSpPr>
          <p:cNvPr id="20" name="Rectangle 19"/>
          <p:cNvSpPr/>
          <p:nvPr/>
        </p:nvSpPr>
        <p:spPr>
          <a:xfrm>
            <a:off x="411480" y="2743200"/>
            <a:ext cx="83210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743200"/>
            <a:ext cx="2773680" cy="411480"/>
          </a:xfrm>
          <a:prstGeom prst="rect">
            <a:avLst/>
          </a:prstGeom>
          <a:noFill/>
        </p:spPr>
        <p:txBody>
          <a:bodyPr wrap="square" lIns="25400" rIns="25400" tIns="25400" bIns="25400" anchor="ctr">
            <a:spAutoFit/>
          </a:bodyPr>
          <a:lstStyle/>
          <a:p>
            <a:pPr algn="l"/>
            <a:r>
              <a:rPr sz="1100" b="1" i="0">
                <a:solidFill>
                  <a:srgbClr val="1D1D30"/>
                </a:solidFill>
                <a:latin typeface="Calibri"/>
              </a:rPr>
              <a:t>RACE</a:t>
            </a:r>
          </a:p>
        </p:txBody>
      </p:sp>
      <p:sp>
        <p:nvSpPr>
          <p:cNvPr id="22" name="TextBox 21"/>
          <p:cNvSpPr txBox="1"/>
          <p:nvPr/>
        </p:nvSpPr>
        <p:spPr>
          <a:xfrm>
            <a:off x="3230880" y="2743200"/>
            <a:ext cx="277368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Role · Action · Context · Expectation</a:t>
            </a:r>
          </a:p>
        </p:txBody>
      </p:sp>
      <p:sp>
        <p:nvSpPr>
          <p:cNvPr id="23" name="TextBox 22"/>
          <p:cNvSpPr txBox="1"/>
          <p:nvPr/>
        </p:nvSpPr>
        <p:spPr>
          <a:xfrm>
            <a:off x="6004560" y="2743200"/>
            <a:ext cx="277368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Punto de partida sencillo</a:t>
            </a:r>
          </a:p>
        </p:txBody>
      </p:sp>
      <p:sp>
        <p:nvSpPr>
          <p:cNvPr id="24" name="Rectangle 23"/>
          <p:cNvSpPr/>
          <p:nvPr/>
        </p:nvSpPr>
        <p:spPr>
          <a:xfrm>
            <a:off x="411480" y="3154680"/>
            <a:ext cx="8321040" cy="411480"/>
          </a:xfrm>
          <a:prstGeom prst="rect">
            <a:avLst/>
          </a:prstGeom>
          <a:solidFill>
            <a:srgbClr val="F0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154680"/>
            <a:ext cx="2773680" cy="411480"/>
          </a:xfrm>
          <a:prstGeom prst="rect">
            <a:avLst/>
          </a:prstGeom>
          <a:noFill/>
        </p:spPr>
        <p:txBody>
          <a:bodyPr wrap="square" lIns="25400" rIns="25400" tIns="25400" bIns="25400" anchor="ctr">
            <a:spAutoFit/>
          </a:bodyPr>
          <a:lstStyle/>
          <a:p>
            <a:pPr algn="l"/>
            <a:r>
              <a:rPr sz="1100" b="1" i="0">
                <a:solidFill>
                  <a:srgbClr val="1D1D30"/>
                </a:solidFill>
                <a:latin typeface="Calibri"/>
              </a:rPr>
              <a:t>BAB</a:t>
            </a:r>
          </a:p>
        </p:txBody>
      </p:sp>
      <p:sp>
        <p:nvSpPr>
          <p:cNvPr id="26" name="TextBox 25"/>
          <p:cNvSpPr txBox="1"/>
          <p:nvPr/>
        </p:nvSpPr>
        <p:spPr>
          <a:xfrm>
            <a:off x="3230880" y="3154680"/>
            <a:ext cx="277368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Before · After · Bridge</a:t>
            </a:r>
          </a:p>
        </p:txBody>
      </p:sp>
      <p:sp>
        <p:nvSpPr>
          <p:cNvPr id="27" name="TextBox 26"/>
          <p:cNvSpPr txBox="1"/>
          <p:nvPr/>
        </p:nvSpPr>
        <p:spPr>
          <a:xfrm>
            <a:off x="6004560" y="3154680"/>
            <a:ext cx="277368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Copy persuasivo, propuestas</a:t>
            </a:r>
          </a:p>
        </p:txBody>
      </p:sp>
      <p:sp>
        <p:nvSpPr>
          <p:cNvPr id="28" name="Rectangle 27"/>
          <p:cNvSpPr/>
          <p:nvPr/>
        </p:nvSpPr>
        <p:spPr>
          <a:xfrm>
            <a:off x="411480" y="3566160"/>
            <a:ext cx="83210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3566160"/>
            <a:ext cx="2773680" cy="411480"/>
          </a:xfrm>
          <a:prstGeom prst="rect">
            <a:avLst/>
          </a:prstGeom>
          <a:noFill/>
        </p:spPr>
        <p:txBody>
          <a:bodyPr wrap="square" lIns="25400" rIns="25400" tIns="25400" bIns="25400" anchor="ctr">
            <a:spAutoFit/>
          </a:bodyPr>
          <a:lstStyle/>
          <a:p>
            <a:pPr algn="l"/>
            <a:r>
              <a:rPr sz="1100" b="1" i="0">
                <a:solidFill>
                  <a:srgbClr val="1D1D30"/>
                </a:solidFill>
                <a:latin typeface="Calibri"/>
              </a:rPr>
              <a:t>APE</a:t>
            </a:r>
          </a:p>
        </p:txBody>
      </p:sp>
      <p:sp>
        <p:nvSpPr>
          <p:cNvPr id="30" name="TextBox 29"/>
          <p:cNvSpPr txBox="1"/>
          <p:nvPr/>
        </p:nvSpPr>
        <p:spPr>
          <a:xfrm>
            <a:off x="3230880" y="3566160"/>
            <a:ext cx="277368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Action · Purpose · Expectation</a:t>
            </a:r>
          </a:p>
        </p:txBody>
      </p:sp>
      <p:sp>
        <p:nvSpPr>
          <p:cNvPr id="31" name="TextBox 30"/>
          <p:cNvSpPr txBox="1"/>
          <p:nvPr/>
        </p:nvSpPr>
        <p:spPr>
          <a:xfrm>
            <a:off x="6004560" y="3566160"/>
            <a:ext cx="2773680" cy="411480"/>
          </a:xfrm>
          <a:prstGeom prst="rect">
            <a:avLst/>
          </a:prstGeom>
          <a:noFill/>
        </p:spPr>
        <p:txBody>
          <a:bodyPr wrap="square" lIns="25400" rIns="25400" tIns="25400" bIns="25400" anchor="ctr">
            <a:spAutoFit/>
          </a:bodyPr>
          <a:lstStyle/>
          <a:p>
            <a:pPr algn="ctr"/>
            <a:r>
              <a:rPr sz="1100" b="0" i="0">
                <a:solidFill>
                  <a:srgbClr val="1D1D30"/>
                </a:solidFill>
                <a:latin typeface="Calibri"/>
              </a:rPr>
              <a:t>Principiantes, automatizable</a:t>
            </a:r>
          </a:p>
        </p:txBody>
      </p:sp>
      <p:sp>
        <p:nvSpPr>
          <p:cNvPr id="32" name="Rectangle 31"/>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457200"/>
          </a:xfrm>
          <a:prstGeom prst="rect">
            <a:avLst/>
          </a:prstGeom>
          <a:noFill/>
        </p:spPr>
        <p:txBody>
          <a:bodyPr wrap="square" lIns="25400" rIns="25400" tIns="25400" bIns="25400" anchor="t">
            <a:spAutoFit/>
          </a:bodyPr>
          <a:lstStyle/>
          <a:p>
            <a:pPr algn="l"/>
            <a:r>
              <a:rPr sz="1400" b="0" i="0">
                <a:solidFill>
                  <a:srgbClr val="FF743B"/>
                </a:solidFill>
                <a:latin typeface="Calibri"/>
              </a:rPr>
              <a:t>LA REGLA DE ORO</a:t>
            </a:r>
          </a:p>
        </p:txBody>
      </p:sp>
      <p:sp>
        <p:nvSpPr>
          <p:cNvPr id="8" name="TextBox 7"/>
          <p:cNvSpPr txBox="1"/>
          <p:nvPr/>
        </p:nvSpPr>
        <p:spPr>
          <a:xfrm>
            <a:off x="457200" y="1463040"/>
            <a:ext cx="8229600" cy="2377440"/>
          </a:xfrm>
          <a:prstGeom prst="rect">
            <a:avLst/>
          </a:prstGeom>
          <a:noFill/>
        </p:spPr>
        <p:txBody>
          <a:bodyPr wrap="square" lIns="25400" rIns="25400" tIns="25400" bIns="25400" anchor="ctr">
            <a:spAutoFit/>
          </a:bodyPr>
          <a:lstStyle/>
          <a:p>
            <a:pPr algn="ctr"/>
            <a:r>
              <a:rPr sz="4000" b="1" i="0">
                <a:solidFill>
                  <a:srgbClr val="1D1D30"/>
                </a:solidFill>
                <a:latin typeface="Calibri"/>
              </a:rPr>
              <a:t>«Si no le dirías esto a un becario nuevo,
no se lo digas a un LLM.»</a:t>
            </a:r>
          </a:p>
        </p:txBody>
      </p:sp>
      <p:sp>
        <p:nvSpPr>
          <p:cNvPr id="9" name="TextBox 8"/>
          <p:cNvSpPr txBox="1"/>
          <p:nvPr/>
        </p:nvSpPr>
        <p:spPr>
          <a:xfrm>
            <a:off x="457200" y="4023360"/>
            <a:ext cx="8229600" cy="365760"/>
          </a:xfrm>
          <a:prstGeom prst="rect">
            <a:avLst/>
          </a:prstGeom>
          <a:noFill/>
        </p:spPr>
        <p:txBody>
          <a:bodyPr wrap="square" lIns="25400" rIns="25400" tIns="25400" bIns="25400" anchor="t">
            <a:spAutoFit/>
          </a:bodyPr>
          <a:lstStyle/>
          <a:p>
            <a:pPr algn="ctr"/>
            <a:r>
              <a:rPr sz="1400" b="0" i="0">
                <a:solidFill>
                  <a:srgbClr val="808095"/>
                </a:solidFill>
                <a:latin typeface="Calibri"/>
              </a:rPr>
              <a:t>El modelo no infiere lo que no le dices. Sé explícito.</a:t>
            </a:r>
          </a:p>
        </p:txBody>
      </p:sp>
      <p:sp>
        <p:nvSpPr>
          <p:cNvPr id="10" name="Rectangle 9"/>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Rectangle 6"/>
          <p:cNvSpPr/>
          <p:nvPr/>
        </p:nvSpPr>
        <p:spPr>
          <a:xfrm>
            <a:off x="411480" y="502920"/>
            <a:ext cx="2377440" cy="365760"/>
          </a:xfrm>
          <a:prstGeom prst="rect">
            <a:avLst/>
          </a:prstGeom>
          <a:solidFill>
            <a:srgbClr val="F0F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502920"/>
            <a:ext cx="2377440" cy="365760"/>
          </a:xfrm>
          <a:prstGeom prst="rect">
            <a:avLst/>
          </a:prstGeom>
          <a:noFill/>
        </p:spPr>
        <p:txBody>
          <a:bodyPr wrap="square" lIns="25400" rIns="25400" tIns="25400" bIns="25400" anchor="ctr">
            <a:spAutoFit/>
          </a:bodyPr>
          <a:lstStyle/>
          <a:p>
            <a:pPr algn="ctr"/>
            <a:r>
              <a:rPr sz="1300" b="1" i="0">
                <a:solidFill>
                  <a:srgbClr val="1D1D30"/>
                </a:solidFill>
                <a:latin typeface="Calibri"/>
              </a:rPr>
              <a:t>¡HORA DE TRABAJAR!</a:t>
            </a:r>
          </a:p>
        </p:txBody>
      </p:sp>
      <p:sp>
        <p:nvSpPr>
          <p:cNvPr id="9" name="Rectangle 8"/>
          <p:cNvSpPr/>
          <p:nvPr/>
        </p:nvSpPr>
        <p:spPr>
          <a:xfrm>
            <a:off x="411480" y="1143000"/>
            <a:ext cx="1280160" cy="36576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143000"/>
            <a:ext cx="1280160" cy="365760"/>
          </a:xfrm>
          <a:prstGeom prst="rect">
            <a:avLst/>
          </a:prstGeom>
          <a:noFill/>
        </p:spPr>
        <p:txBody>
          <a:bodyPr wrap="square" lIns="25400" rIns="25400" tIns="25400" bIns="25400" anchor="ctr">
            <a:spAutoFit/>
          </a:bodyPr>
          <a:lstStyle/>
          <a:p>
            <a:pPr algn="ctr"/>
            <a:r>
              <a:rPr sz="1400" b="1" i="0">
                <a:solidFill>
                  <a:srgbClr val="FFFFFF"/>
                </a:solidFill>
                <a:latin typeface="Calibri"/>
              </a:rPr>
              <a:t>Ejercicio 3</a:t>
            </a:r>
          </a:p>
        </p:txBody>
      </p:sp>
      <p:sp>
        <p:nvSpPr>
          <p:cNvPr id="11" name="Rectangle 10"/>
          <p:cNvSpPr/>
          <p:nvPr/>
        </p:nvSpPr>
        <p:spPr>
          <a:xfrm>
            <a:off x="1783080" y="1143000"/>
            <a:ext cx="1280160" cy="365760"/>
          </a:xfrm>
          <a:prstGeom prst="rect">
            <a:avLst/>
          </a:prstGeom>
          <a:solidFill>
            <a:srgbClr val="F0F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783080" y="1143000"/>
            <a:ext cx="1280160" cy="365760"/>
          </a:xfrm>
          <a:prstGeom prst="rect">
            <a:avLst/>
          </a:prstGeom>
          <a:noFill/>
        </p:spPr>
        <p:txBody>
          <a:bodyPr wrap="square" lIns="25400" rIns="25400" tIns="25400" bIns="25400" anchor="ctr">
            <a:spAutoFit/>
          </a:bodyPr>
          <a:lstStyle/>
          <a:p>
            <a:pPr algn="ctr"/>
            <a:r>
              <a:rPr sz="1400" b="1" i="0">
                <a:solidFill>
                  <a:srgbClr val="1D1D30"/>
                </a:solidFill>
                <a:latin typeface="Calibri"/>
              </a:rPr>
              <a:t>15 min</a:t>
            </a:r>
          </a:p>
        </p:txBody>
      </p:sp>
      <p:sp>
        <p:nvSpPr>
          <p:cNvPr id="13" name="TextBox 12"/>
          <p:cNvSpPr txBox="1"/>
          <p:nvPr/>
        </p:nvSpPr>
        <p:spPr>
          <a:xfrm>
            <a:off x="411480" y="1828800"/>
            <a:ext cx="8229600" cy="2743200"/>
          </a:xfrm>
          <a:prstGeom prst="rect">
            <a:avLst/>
          </a:prstGeom>
          <a:noFill/>
        </p:spPr>
        <p:txBody>
          <a:bodyPr wrap="square" lIns="25400" rIns="25400" tIns="25400" bIns="25400" anchor="t">
            <a:spAutoFit/>
          </a:bodyPr>
          <a:lstStyle/>
          <a:p>
            <a:pPr algn="l">
              <a:lnSpc>
                <a:spcPct val="140000"/>
              </a:lnSpc>
            </a:pPr>
            <a:r>
              <a:rPr sz="1800" b="1" i="0">
                <a:solidFill>
                  <a:srgbClr val="1D1D30"/>
                </a:solidFill>
                <a:latin typeface="Calibri"/>
              </a:rPr>
              <a:t>Misión: </a:t>
            </a:r>
            <a:r>
              <a:rPr sz="1800" b="0" i="0">
                <a:solidFill>
                  <a:srgbClr val="1D1D30"/>
                </a:solidFill>
                <a:latin typeface="Calibri"/>
              </a:rPr>
              <a:t>En parejas, coged el caso real que cada uno trajo al icebreaker. Reescribidlo aplicando CO-STAR. Probadlo en ChatGPT. Comparad resultado vs el prompt original.</a:t>
            </a:r>
          </a:p>
          <a:p>
            <a:pPr algn="l">
              <a:lnSpc>
                <a:spcPct val="140000"/>
              </a:lnSpc>
            </a:pPr>
            <a:r>
              <a:rPr sz="1800" b="1" i="0">
                <a:solidFill>
                  <a:srgbClr val="1D1D30"/>
                </a:solidFill>
                <a:latin typeface="Calibri"/>
              </a:rPr>
              <a:t>Herramienta: </a:t>
            </a:r>
            <a:r>
              <a:rPr sz="1800" b="0" i="0">
                <a:solidFill>
                  <a:srgbClr val="1D1D30"/>
                </a:solidFill>
                <a:latin typeface="Calibri"/>
              </a:rPr>
              <a:t>ChatGPT / Claude / tu IA de confianza</a:t>
            </a:r>
          </a:p>
          <a:p>
            <a:pPr algn="l">
              <a:lnSpc>
                <a:spcPct val="140000"/>
              </a:lnSpc>
            </a:pPr>
            <a:r>
              <a:rPr sz="1800" b="1" i="0">
                <a:solidFill>
                  <a:srgbClr val="1D1D30"/>
                </a:solidFill>
                <a:latin typeface="Calibri"/>
              </a:rPr>
              <a:t>Objetivo: </a:t>
            </a:r>
            <a:r>
              <a:rPr sz="1800" b="0" i="0">
                <a:solidFill>
                  <a:srgbClr val="1D1D30"/>
                </a:solidFill>
                <a:latin typeface="Calibri"/>
              </a:rPr>
              <a:t>Sentir cuánto cambia el output cuando el prompt está bien estructurado. Compartiremos 2-3 en plenaria.</a:t>
            </a:r>
          </a:p>
        </p:txBody>
      </p:sp>
      <p:sp>
        <p:nvSpPr>
          <p:cNvPr id="14" name="Rectangle 13"/>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200" b="1" i="0">
                <a:solidFill>
                  <a:srgbClr val="1D1D30"/>
                </a:solidFill>
                <a:latin typeface="Calibri"/>
              </a:rPr>
              <a:t>Iterar un prompt: el ciclo de mejora</a:t>
            </a:r>
          </a:p>
        </p:txBody>
      </p:sp>
      <p:sp>
        <p:nvSpPr>
          <p:cNvPr id="8" name="TextBox 7"/>
          <p:cNvSpPr txBox="1"/>
          <p:nvPr/>
        </p:nvSpPr>
        <p:spPr>
          <a:xfrm>
            <a:off x="411480" y="1417320"/>
            <a:ext cx="8229600" cy="3383280"/>
          </a:xfrm>
          <a:prstGeom prst="rect">
            <a:avLst/>
          </a:prstGeom>
          <a:noFill/>
        </p:spPr>
        <p:txBody>
          <a:bodyPr wrap="square" lIns="25400" rIns="25400" tIns="25400" bIns="25400" anchor="t">
            <a:spAutoFit/>
          </a:bodyPr>
          <a:lstStyle/>
          <a:p>
            <a:pPr algn="l">
              <a:lnSpc>
                <a:spcPct val="135000"/>
              </a:lnSpc>
            </a:pPr>
            <a:r>
              <a:rPr sz="1700" b="1" i="0">
                <a:solidFill>
                  <a:srgbClr val="FF743B"/>
                </a:solidFill>
                <a:latin typeface="Calibri"/>
              </a:rPr>
              <a:t>● </a:t>
            </a:r>
            <a:r>
              <a:rPr sz="1700" b="1" i="0">
                <a:solidFill>
                  <a:srgbClr val="1D1D30"/>
                </a:solidFill>
                <a:latin typeface="Calibri"/>
              </a:rPr>
              <a:t>Empieza simple</a:t>
            </a:r>
            <a:r>
              <a:rPr sz="1700" b="0" i="0">
                <a:solidFill>
                  <a:srgbClr val="1D1D30"/>
                </a:solidFill>
                <a:latin typeface="Calibri"/>
              </a:rPr>
              <a:t>: no escribas la versión final a la primera</a:t>
            </a:r>
          </a:p>
          <a:p>
            <a:pPr algn="l">
              <a:lnSpc>
                <a:spcPct val="135000"/>
              </a:lnSpc>
            </a:pPr>
            <a:r>
              <a:rPr sz="1700" b="1" i="0">
                <a:solidFill>
                  <a:srgbClr val="FF743B"/>
                </a:solidFill>
                <a:latin typeface="Calibri"/>
              </a:rPr>
              <a:t>● </a:t>
            </a:r>
            <a:r>
              <a:rPr sz="1700" b="1" i="0">
                <a:solidFill>
                  <a:srgbClr val="1D1D30"/>
                </a:solidFill>
                <a:latin typeface="Calibri"/>
              </a:rPr>
              <a:t>Mide</a:t>
            </a:r>
            <a:r>
              <a:rPr sz="1700" b="0" i="0">
                <a:solidFill>
                  <a:srgbClr val="1D1D30"/>
                </a:solidFill>
                <a:latin typeface="Calibri"/>
              </a:rPr>
              <a:t>: tienes un set de inputs típicos para comparar</a:t>
            </a:r>
          </a:p>
          <a:p>
            <a:pPr algn="l">
              <a:lnSpc>
                <a:spcPct val="135000"/>
              </a:lnSpc>
            </a:pPr>
            <a:r>
              <a:rPr sz="1700" b="1" i="0">
                <a:solidFill>
                  <a:srgbClr val="FF743B"/>
                </a:solidFill>
                <a:latin typeface="Calibri"/>
              </a:rPr>
              <a:t>● </a:t>
            </a:r>
            <a:r>
              <a:rPr sz="1700" b="1" i="0">
                <a:solidFill>
                  <a:srgbClr val="1D1D30"/>
                </a:solidFill>
                <a:latin typeface="Calibri"/>
              </a:rPr>
              <a:t>Cambia una variable a la vez</a:t>
            </a:r>
            <a:r>
              <a:rPr sz="1700" b="0" i="0">
                <a:solidFill>
                  <a:srgbClr val="1D1D30"/>
                </a:solidFill>
                <a:latin typeface="Calibri"/>
              </a:rPr>
              <a:t>: rol, ejemplos, formato… aislado</a:t>
            </a:r>
          </a:p>
          <a:p>
            <a:pPr algn="l">
              <a:lnSpc>
                <a:spcPct val="135000"/>
              </a:lnSpc>
            </a:pPr>
            <a:r>
              <a:rPr sz="1700" b="1" i="0">
                <a:solidFill>
                  <a:srgbClr val="FF743B"/>
                </a:solidFill>
                <a:latin typeface="Calibri"/>
              </a:rPr>
              <a:t>● </a:t>
            </a:r>
            <a:r>
              <a:rPr sz="1700" b="1" i="0">
                <a:solidFill>
                  <a:srgbClr val="1D1D30"/>
                </a:solidFill>
                <a:latin typeface="Calibri"/>
              </a:rPr>
              <a:t>Versiona</a:t>
            </a:r>
            <a:r>
              <a:rPr sz="1700" b="0" i="0">
                <a:solidFill>
                  <a:srgbClr val="1D1D30"/>
                </a:solidFill>
                <a:latin typeface="Calibri"/>
              </a:rPr>
              <a:t>: guarda los prompts que funcionan en un .txt o git</a:t>
            </a:r>
          </a:p>
          <a:p>
            <a:pPr algn="l">
              <a:lnSpc>
                <a:spcPct val="135000"/>
              </a:lnSpc>
            </a:pPr>
            <a:r>
              <a:rPr sz="1700" b="1" i="0">
                <a:solidFill>
                  <a:srgbClr val="FF743B"/>
                </a:solidFill>
                <a:latin typeface="Calibri"/>
              </a:rPr>
              <a:t>● </a:t>
            </a:r>
            <a:r>
              <a:rPr sz="1700" b="1" i="0">
                <a:solidFill>
                  <a:srgbClr val="1D1D30"/>
                </a:solidFill>
                <a:latin typeface="Calibri"/>
              </a:rPr>
              <a:t>Edge cases</a:t>
            </a:r>
            <a:r>
              <a:rPr sz="1700" b="0" i="0">
                <a:solidFill>
                  <a:srgbClr val="1D1D30"/>
                </a:solidFill>
                <a:latin typeface="Calibri"/>
              </a:rPr>
              <a:t>: input vacío, ambiguo, intento de manipulación</a:t>
            </a:r>
          </a:p>
          <a:p>
            <a:pPr algn="l">
              <a:lnSpc>
                <a:spcPct val="135000"/>
              </a:lnSpc>
            </a:pPr>
            <a:r>
              <a:rPr sz="1700" b="1" i="0">
                <a:solidFill>
                  <a:srgbClr val="FF743B"/>
                </a:solidFill>
                <a:latin typeface="Calibri"/>
              </a:rPr>
              <a:t>● </a:t>
            </a:r>
            <a:r>
              <a:rPr sz="1700" b="1" i="0">
                <a:solidFill>
                  <a:srgbClr val="1D1D30"/>
                </a:solidFill>
                <a:latin typeface="Calibri"/>
              </a:rPr>
              <a:t>Optimiza coste</a:t>
            </a:r>
            <a:r>
              <a:rPr sz="1700" b="0" i="0">
                <a:solidFill>
                  <a:srgbClr val="1D1D30"/>
                </a:solidFill>
                <a:latin typeface="Calibri"/>
              </a:rPr>
              <a:t>: menos tokens y misma calidad = ahorro 70-80%</a:t>
            </a:r>
          </a:p>
        </p:txBody>
      </p:sp>
      <p:sp>
        <p:nvSpPr>
          <p:cNvPr id="9" name="Rectangle 8"/>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200" b="1" i="0">
                <a:solidFill>
                  <a:srgbClr val="1D1D30"/>
                </a:solidFill>
                <a:latin typeface="Calibri"/>
              </a:rPr>
              <a:t>Lo que llevamos del día 1</a:t>
            </a:r>
          </a:p>
        </p:txBody>
      </p:sp>
      <p:sp>
        <p:nvSpPr>
          <p:cNvPr id="8" name="TextBox 7"/>
          <p:cNvSpPr txBox="1"/>
          <p:nvPr/>
        </p:nvSpPr>
        <p:spPr>
          <a:xfrm>
            <a:off x="411480" y="1417320"/>
            <a:ext cx="8229600" cy="3383280"/>
          </a:xfrm>
          <a:prstGeom prst="rect">
            <a:avLst/>
          </a:prstGeom>
          <a:noFill/>
        </p:spPr>
        <p:txBody>
          <a:bodyPr wrap="square" lIns="25400" rIns="25400" tIns="25400" bIns="25400" anchor="t">
            <a:spAutoFit/>
          </a:bodyPr>
          <a:lstStyle/>
          <a:p>
            <a:pPr algn="l">
              <a:lnSpc>
                <a:spcPct val="135000"/>
              </a:lnSpc>
            </a:pPr>
            <a:r>
              <a:rPr sz="1700" b="1" i="0">
                <a:solidFill>
                  <a:srgbClr val="FF743B"/>
                </a:solidFill>
                <a:latin typeface="Calibri"/>
              </a:rPr>
              <a:t>● </a:t>
            </a:r>
            <a:r>
              <a:rPr sz="1700" b="0" i="0">
                <a:solidFill>
                  <a:srgbClr val="1D1D30"/>
                </a:solidFill>
                <a:latin typeface="Calibri"/>
              </a:rPr>
              <a:t>Qué es la IA generativa y cómo funciona en una línea</a:t>
            </a:r>
          </a:p>
          <a:p>
            <a:pPr algn="l">
              <a:lnSpc>
                <a:spcPct val="135000"/>
              </a:lnSpc>
            </a:pPr>
            <a:r>
              <a:rPr sz="1700" b="1" i="0">
                <a:solidFill>
                  <a:srgbClr val="FF743B"/>
                </a:solidFill>
                <a:latin typeface="Calibri"/>
              </a:rPr>
              <a:t>● </a:t>
            </a:r>
            <a:r>
              <a:rPr sz="1700" b="0" i="0">
                <a:solidFill>
                  <a:srgbClr val="1D1D30"/>
                </a:solidFill>
                <a:latin typeface="Calibri"/>
              </a:rPr>
              <a:t>Tokens, ventana de contexto y limitaciones reales</a:t>
            </a:r>
          </a:p>
          <a:p>
            <a:pPr algn="l">
              <a:lnSpc>
                <a:spcPct val="135000"/>
              </a:lnSpc>
            </a:pPr>
            <a:r>
              <a:rPr sz="1700" b="1" i="0">
                <a:solidFill>
                  <a:srgbClr val="FF743B"/>
                </a:solidFill>
                <a:latin typeface="Calibri"/>
              </a:rPr>
              <a:t>● </a:t>
            </a:r>
            <a:r>
              <a:rPr sz="1700" b="0" i="0">
                <a:solidFill>
                  <a:srgbClr val="1D1D30"/>
                </a:solidFill>
                <a:latin typeface="Calibri"/>
              </a:rPr>
              <a:t>Ecosistema 2026: closed, open y local</a:t>
            </a:r>
          </a:p>
          <a:p>
            <a:pPr algn="l">
              <a:lnSpc>
                <a:spcPct val="135000"/>
              </a:lnSpc>
            </a:pPr>
            <a:r>
              <a:rPr sz="1700" b="1" i="0">
                <a:solidFill>
                  <a:srgbClr val="FF743B"/>
                </a:solidFill>
                <a:latin typeface="Calibri"/>
              </a:rPr>
              <a:t>● </a:t>
            </a:r>
            <a:r>
              <a:rPr sz="1700" b="0" i="0">
                <a:solidFill>
                  <a:srgbClr val="1D1D30"/>
                </a:solidFill>
                <a:latin typeface="Calibri"/>
              </a:rPr>
              <a:t>Anatomía de un prompt y framework CO-STAR</a:t>
            </a:r>
          </a:p>
          <a:p>
            <a:pPr algn="l">
              <a:lnSpc>
                <a:spcPct val="135000"/>
              </a:lnSpc>
            </a:pPr>
            <a:r>
              <a:rPr sz="1700" b="1" i="0">
                <a:solidFill>
                  <a:srgbClr val="FF743B"/>
                </a:solidFill>
                <a:latin typeface="Calibri"/>
              </a:rPr>
              <a:t>● </a:t>
            </a:r>
            <a:r>
              <a:rPr sz="1700" b="0" i="0">
                <a:solidFill>
                  <a:srgbClr val="1D1D30"/>
                </a:solidFill>
                <a:latin typeface="Calibri"/>
              </a:rPr>
              <a:t>Iteración y mejora sistemática</a:t>
            </a:r>
          </a:p>
        </p:txBody>
      </p:sp>
      <p:sp>
        <p:nvSpPr>
          <p:cNvPr id="9" name="Rectangle 8"/>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26679" y="164592"/>
            <a:ext cx="502920" cy="2743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26679" y="164592"/>
            <a:ext cx="5029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keep</a:t>
            </a:r>
          </a:p>
        </p:txBody>
      </p:sp>
      <p:sp>
        <p:nvSpPr>
          <p:cNvPr id="5" name="Rectangle 4"/>
          <p:cNvSpPr/>
          <p:nvPr/>
        </p:nvSpPr>
        <p:spPr>
          <a:xfrm>
            <a:off x="8229600" y="164592"/>
            <a:ext cx="731520" cy="2743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0" y="164592"/>
            <a:ext cx="731520" cy="274320"/>
          </a:xfrm>
          <a:prstGeom prst="rect">
            <a:avLst/>
          </a:prstGeom>
          <a:noFill/>
        </p:spPr>
        <p:txBody>
          <a:bodyPr wrap="square" lIns="25400" rIns="25400" tIns="25400" bIns="25400" anchor="ctr">
            <a:spAutoFit/>
          </a:bodyPr>
          <a:lstStyle/>
          <a:p>
            <a:pPr algn="ctr"/>
            <a:r>
              <a:rPr sz="1200" b="1" i="0">
                <a:solidFill>
                  <a:srgbClr val="1D1D30"/>
                </a:solidFill>
                <a:latin typeface="Calibri"/>
              </a:rPr>
              <a:t>coding</a:t>
            </a:r>
          </a:p>
        </p:txBody>
      </p:sp>
      <p:sp>
        <p:nvSpPr>
          <p:cNvPr id="7" name="TextBox 6"/>
          <p:cNvSpPr txBox="1"/>
          <p:nvPr/>
        </p:nvSpPr>
        <p:spPr>
          <a:xfrm>
            <a:off x="411480" y="502920"/>
            <a:ext cx="8229600" cy="777240"/>
          </a:xfrm>
          <a:prstGeom prst="rect">
            <a:avLst/>
          </a:prstGeom>
          <a:noFill/>
        </p:spPr>
        <p:txBody>
          <a:bodyPr wrap="square" lIns="25400" rIns="25400" tIns="25400" bIns="25400" anchor="t">
            <a:spAutoFit/>
          </a:bodyPr>
          <a:lstStyle/>
          <a:p>
            <a:pPr algn="l"/>
            <a:r>
              <a:rPr sz="3000" b="1" i="0">
                <a:solidFill>
                  <a:srgbClr val="1D1D30"/>
                </a:solidFill>
                <a:latin typeface="Calibri"/>
              </a:rPr>
              <a:t>Encuesta rápida y mañana qué</a:t>
            </a:r>
          </a:p>
        </p:txBody>
      </p:sp>
      <p:sp>
        <p:nvSpPr>
          <p:cNvPr id="8" name="Rectangle 7"/>
          <p:cNvSpPr/>
          <p:nvPr/>
        </p:nvSpPr>
        <p:spPr>
          <a:xfrm>
            <a:off x="640080" y="1554480"/>
            <a:ext cx="7863840" cy="14630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54480"/>
            <a:ext cx="7498079" cy="1463040"/>
          </a:xfrm>
          <a:prstGeom prst="rect">
            <a:avLst/>
          </a:prstGeom>
          <a:noFill/>
        </p:spPr>
        <p:txBody>
          <a:bodyPr wrap="square" lIns="25400" rIns="25400" tIns="25400" bIns="25400" anchor="ctr">
            <a:spAutoFit/>
          </a:bodyPr>
          <a:lstStyle/>
          <a:p>
            <a:pPr algn="ctr">
              <a:lnSpc>
                <a:spcPct val="120000"/>
              </a:lnSpc>
            </a:pPr>
            <a:r>
              <a:rPr sz="2400" b="1" i="0">
                <a:solidFill>
                  <a:srgbClr val="FFFFFF"/>
                </a:solidFill>
                <a:latin typeface="Calibri"/>
              </a:rPr>
              <a:t>¿Tres palabras sobre lo de hoy?</a:t>
            </a:r>
          </a:p>
          <a:p>
            <a:pPr algn="ctr">
              <a:lnSpc>
                <a:spcPct val="120000"/>
              </a:lnSpc>
            </a:pPr>
            <a:r>
              <a:rPr sz="2400" b="1" i="0">
                <a:solidFill>
                  <a:srgbClr val="FFFFFF"/>
                </a:solidFill>
                <a:latin typeface="Calibri"/>
              </a:rPr>
              <a:t>¿Qué queréis profundizar mañana?</a:t>
            </a:r>
          </a:p>
        </p:txBody>
      </p:sp>
      <p:sp>
        <p:nvSpPr>
          <p:cNvPr id="10" name="TextBox 9"/>
          <p:cNvSpPr txBox="1"/>
          <p:nvPr/>
        </p:nvSpPr>
        <p:spPr>
          <a:xfrm>
            <a:off x="640080" y="3383280"/>
            <a:ext cx="7863840" cy="1371600"/>
          </a:xfrm>
          <a:prstGeom prst="rect">
            <a:avLst/>
          </a:prstGeom>
          <a:noFill/>
        </p:spPr>
        <p:txBody>
          <a:bodyPr wrap="square" lIns="25400" rIns="25400" tIns="25400" bIns="25400" anchor="t">
            <a:spAutoFit/>
          </a:bodyPr>
          <a:lstStyle/>
          <a:p>
            <a:pPr algn="l">
              <a:lnSpc>
                <a:spcPct val="130000"/>
              </a:lnSpc>
            </a:pPr>
            <a:r>
              <a:rPr sz="1600" b="1" i="0">
                <a:solidFill>
                  <a:srgbClr val="FF743B"/>
                </a:solidFill>
                <a:latin typeface="Calibri"/>
              </a:rPr>
              <a:t>● </a:t>
            </a:r>
            <a:r>
              <a:rPr sz="1600" b="0" i="0">
                <a:solidFill>
                  <a:srgbClr val="1D1D30"/>
                </a:solidFill>
                <a:latin typeface="Calibri"/>
              </a:rPr>
              <a:t>Día 2: parámetros del modelo (temperature, top_p, max tokens)</a:t>
            </a:r>
          </a:p>
          <a:p>
            <a:pPr algn="l">
              <a:lnSpc>
                <a:spcPct val="130000"/>
              </a:lnSpc>
            </a:pPr>
            <a:r>
              <a:rPr sz="1600" b="1" i="0">
                <a:solidFill>
                  <a:srgbClr val="FF743B"/>
                </a:solidFill>
                <a:latin typeface="Calibri"/>
              </a:rPr>
              <a:t>● </a:t>
            </a:r>
            <a:r>
              <a:rPr sz="1600" b="0" i="0">
                <a:solidFill>
                  <a:srgbClr val="1D1D30"/>
                </a:solidFill>
                <a:latin typeface="Calibri"/>
              </a:rPr>
              <a:t>Día 2: alucinaciones, sesgos, prompt injection y jailbreaks</a:t>
            </a:r>
          </a:p>
          <a:p>
            <a:pPr algn="l">
              <a:lnSpc>
                <a:spcPct val="130000"/>
              </a:lnSpc>
            </a:pPr>
            <a:r>
              <a:rPr sz="1600" b="1" i="0">
                <a:solidFill>
                  <a:srgbClr val="FF743B"/>
                </a:solidFill>
                <a:latin typeface="Calibri"/>
              </a:rPr>
              <a:t>● </a:t>
            </a:r>
            <a:r>
              <a:rPr sz="1600" b="0" i="0">
                <a:solidFill>
                  <a:srgbClr val="1D1D30"/>
                </a:solidFill>
                <a:latin typeface="Calibri"/>
              </a:rPr>
              <a:t>Día 2: práctica intensiva con la API de OpenAI en Python</a:t>
            </a:r>
          </a:p>
          <a:p>
            <a:pPr algn="l">
              <a:lnSpc>
                <a:spcPct val="130000"/>
              </a:lnSpc>
            </a:pPr>
            <a:r>
              <a:rPr sz="1600" b="1" i="0">
                <a:solidFill>
                  <a:srgbClr val="FF743B"/>
                </a:solidFill>
                <a:latin typeface="Calibri"/>
              </a:rPr>
              <a:t>● </a:t>
            </a:r>
            <a:r>
              <a:rPr sz="1600" b="0" i="0">
                <a:solidFill>
                  <a:srgbClr val="1D1D30"/>
                </a:solidFill>
                <a:latin typeface="Calibri"/>
              </a:rPr>
              <a:t>Tarea opcional: crear vuestra cuenta en platform.openai.com</a:t>
            </a:r>
          </a:p>
        </p:txBody>
      </p:sp>
      <p:sp>
        <p:nvSpPr>
          <p:cNvPr id="11" name="Rectangle 10"/>
          <p:cNvSpPr/>
          <p:nvPr/>
        </p:nvSpPr>
        <p:spPr>
          <a:xfrm>
            <a:off x="365760" y="4846320"/>
            <a:ext cx="8412480" cy="1524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4892040"/>
            <a:ext cx="457200" cy="228600"/>
          </a:xfrm>
          <a:prstGeom prst="rect">
            <a:avLst/>
          </a:prstGeom>
          <a:noFill/>
        </p:spPr>
        <p:txBody>
          <a:bodyPr wrap="square" lIns="25400" rIns="25400" tIns="25400" bIns="25400" anchor="t">
            <a:spAutoFit/>
          </a:bodyPr>
          <a:lstStyle/>
          <a:p>
            <a:pPr algn="r"/>
            <a:r>
              <a:rPr sz="1000" b="0" i="0">
                <a:solidFill>
                  <a:srgbClr val="1D1D30"/>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D1D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571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143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714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2286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857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429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00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572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143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715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286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429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001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72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1440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715500" y="0"/>
            <a:ext cx="0" cy="5143500"/>
          </a:xfrm>
          <a:prstGeom prst="line">
            <a:avLst/>
          </a:prstGeom>
          <a:ln w="5080">
            <a:solidFill>
              <a:srgbClr val="2A2A42"/>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7200" y="1280160"/>
            <a:ext cx="8229600" cy="1828800"/>
          </a:xfrm>
          <a:prstGeom prst="rect">
            <a:avLst/>
          </a:prstGeom>
          <a:noFill/>
        </p:spPr>
        <p:txBody>
          <a:bodyPr wrap="square" lIns="25400" rIns="25400" tIns="25400" bIns="25400" anchor="ctr">
            <a:spAutoFit/>
          </a:bodyPr>
          <a:lstStyle/>
          <a:p>
            <a:pPr algn="ctr">
              <a:lnSpc>
                <a:spcPct val="105000"/>
              </a:lnSpc>
            </a:pPr>
            <a:r>
              <a:rPr sz="6400" b="1" i="0">
                <a:solidFill>
                  <a:srgbClr val="FFFFFF"/>
                </a:solidFill>
                <a:latin typeface="Calibri"/>
              </a:rPr>
              <a:t>MUCHAS</a:t>
            </a:r>
          </a:p>
          <a:p>
            <a:pPr algn="ctr">
              <a:lnSpc>
                <a:spcPct val="105000"/>
              </a:lnSpc>
            </a:pPr>
            <a:r>
              <a:rPr sz="6400" b="1" i="0">
                <a:solidFill>
                  <a:srgbClr val="FFFFFF"/>
                </a:solidFill>
                <a:latin typeface="Calibri"/>
              </a:rPr>
              <a:t>GRACIAS</a:t>
            </a:r>
          </a:p>
        </p:txBody>
      </p:sp>
      <p:sp>
        <p:nvSpPr>
          <p:cNvPr id="21" name="TextBox 20"/>
          <p:cNvSpPr txBox="1"/>
          <p:nvPr/>
        </p:nvSpPr>
        <p:spPr>
          <a:xfrm>
            <a:off x="457200" y="3291840"/>
            <a:ext cx="8229600" cy="365760"/>
          </a:xfrm>
          <a:prstGeom prst="rect">
            <a:avLst/>
          </a:prstGeom>
          <a:noFill/>
        </p:spPr>
        <p:txBody>
          <a:bodyPr wrap="square" lIns="25400" rIns="25400" tIns="25400" bIns="25400" anchor="t">
            <a:spAutoFit/>
          </a:bodyPr>
          <a:lstStyle/>
          <a:p>
            <a:pPr algn="ctr"/>
            <a:r>
              <a:rPr sz="1800" b="0" i="0">
                <a:solidFill>
                  <a:srgbClr val="FF743B"/>
                </a:solidFill>
                <a:latin typeface="Calibri"/>
              </a:rPr>
              <a:t>Día 1 · Nos vemos mañana</a:t>
            </a:r>
          </a:p>
        </p:txBody>
      </p:sp>
      <p:sp>
        <p:nvSpPr>
          <p:cNvPr id="22" name="Rectangle 21"/>
          <p:cNvSpPr/>
          <p:nvPr/>
        </p:nvSpPr>
        <p:spPr>
          <a:xfrm>
            <a:off x="3474720" y="3931920"/>
            <a:ext cx="914400" cy="502920"/>
          </a:xfrm>
          <a:prstGeom prst="rect">
            <a:avLst/>
          </a:prstGeom>
          <a:solidFill>
            <a:srgbClr val="FF74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0" y="3931920"/>
            <a:ext cx="914400" cy="502920"/>
          </a:xfrm>
          <a:prstGeom prst="rect">
            <a:avLst/>
          </a:prstGeom>
          <a:noFill/>
        </p:spPr>
        <p:txBody>
          <a:bodyPr wrap="square" lIns="25400" rIns="25400" tIns="25400" bIns="25400" anchor="ctr">
            <a:spAutoFit/>
          </a:bodyPr>
          <a:lstStyle/>
          <a:p>
            <a:pPr algn="ctr"/>
            <a:r>
              <a:rPr sz="2200" b="1" i="0">
                <a:solidFill>
                  <a:srgbClr val="1D1D30"/>
                </a:solidFill>
                <a:latin typeface="Calibri"/>
              </a:rPr>
              <a:t>keep</a:t>
            </a:r>
          </a:p>
        </p:txBody>
      </p:sp>
      <p:sp>
        <p:nvSpPr>
          <p:cNvPr id="24" name="Rectangle 23"/>
          <p:cNvSpPr/>
          <p:nvPr/>
        </p:nvSpPr>
        <p:spPr>
          <a:xfrm>
            <a:off x="4389120" y="3931920"/>
            <a:ext cx="1280160" cy="502920"/>
          </a:xfrm>
          <a:prstGeom prst="rect">
            <a:avLst/>
          </a:prstGeom>
          <a:solidFill>
            <a:srgbClr val="C5C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0" y="3931920"/>
            <a:ext cx="1280160" cy="502920"/>
          </a:xfrm>
          <a:prstGeom prst="rect">
            <a:avLst/>
          </a:prstGeom>
          <a:noFill/>
        </p:spPr>
        <p:txBody>
          <a:bodyPr wrap="square" lIns="25400" rIns="25400" tIns="25400" bIns="25400" anchor="ctr">
            <a:spAutoFit/>
          </a:bodyPr>
          <a:lstStyle/>
          <a:p>
            <a:pPr algn="ctr"/>
            <a:r>
              <a:rPr sz="2200" b="1" i="0">
                <a:solidFill>
                  <a:srgbClr val="1D1D30"/>
                </a:solidFill>
                <a:latin typeface="Calibri"/>
              </a:rPr>
              <a:t>coding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